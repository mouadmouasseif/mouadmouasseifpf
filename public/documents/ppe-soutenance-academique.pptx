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38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Enseignants</c:v>
                </c:pt>
              </c:strCache>
            </c:strRef>
          </c:tx>
          <c:spPr>
            <a:solidFill>
              <a:srgbClr val="1E2A45"/>
            </a:solidFill>
            <a:effectLst/>
          </c:spPr>
          <c:invertIfNegative val="0"/>
          <c:dLbls>
            <c:numFmt formatCode="#,##0" sourceLinked="0"/>
            <c:spPr>
              <a:noFill/>
              <a:ln>
                <a:noFill/>
              </a:ln>
              <a:effectLst/>
            </c:spPr>
            <c:txPr>
              <a:bodyPr/>
              <a:lstStyle/>
              <a:p>
                <a:pPr>
                  <a:defRPr sz="1200" b="1" i="0" u="none" strike="noStrike">
                    <a:solidFill>
                      <a:srgbClr val="16203A"/>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TikTok</c:v>
                </c:pt>
                <c:pt idx="1">
                  <c:v>WhatsApp</c:v>
                </c:pt>
                <c:pt idx="2">
                  <c:v>Instagram</c:v>
                </c:pt>
                <c:pt idx="3">
                  <c:v>Facebook</c:v>
                </c:pt>
                <c:pt idx="4">
                  <c:v>Snapchat</c:v>
                </c:pt>
              </c:strCache>
            </c:strRef>
          </c:cat>
          <c:val>
            <c:numRef>
              <c:f>Sheet1!$B$2:$B$6</c:f>
              <c:numCache>
                <c:formatCode>General</c:formatCode>
                <c:ptCount val="5"/>
                <c:pt idx="0">
                  <c:v>10</c:v>
                </c:pt>
                <c:pt idx="1">
                  <c:v>10</c:v>
                </c:pt>
                <c:pt idx="2">
                  <c:v>9</c:v>
                </c:pt>
                <c:pt idx="3">
                  <c:v>8</c:v>
                </c:pt>
                <c:pt idx="4">
                  <c:v>7</c:v>
                </c:pt>
              </c:numCache>
            </c:numRef>
          </c:val>
          <c:extLst>
            <c:ext xmlns:c16="http://schemas.microsoft.com/office/drawing/2014/chart" uri="{C3380CC4-5D6E-409C-BE32-E72D297353CC}">
              <c16:uniqueId val="{00000000-2CE3-412D-B6FA-C1D6D351207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470"/>
                </a:solidFill>
                <a:latin typeface="Arial"/>
              </a:defRPr>
            </a:pPr>
            <a:endParaRPr lang="en-US"/>
          </a:p>
        </c:txPr>
        <c:crossAx val="2094734552"/>
        <c:crosses val="autoZero"/>
        <c:auto val="1"/>
        <c:lblAlgn val="ctr"/>
        <c:lblOffset val="100"/>
        <c:noMultiLvlLbl val="1"/>
      </c:catAx>
      <c:valAx>
        <c:axId val="2094734552"/>
        <c:scaling>
          <c:orientation val="minMax"/>
          <c:max val="12"/>
        </c:scaling>
        <c:delete val="0"/>
        <c:axPos val="l"/>
        <c:majorGridlines>
          <c:spPr>
            <a:ln w="9525" cap="flat">
              <a:solidFill>
                <a:srgbClr val="DCE0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0"/>
                </a:solidFill>
                <a:latin typeface="Arial"/>
              </a:defRPr>
            </a:pPr>
            <a:endParaRPr lang="en-US"/>
          </a:p>
        </c:txPr>
        <c:crossAx val="2094734554"/>
        <c:crosses val="autoZero"/>
        <c:crossBetween val="between"/>
        <c:majorUnit val="2"/>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0092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383280" y="914400"/>
            <a:ext cx="0" cy="5029200"/>
          </a:xfrm>
          <a:prstGeom prst="line">
            <a:avLst/>
          </a:prstGeom>
          <a:noFill/>
          <a:ln w="12700">
            <a:solidFill>
              <a:srgbClr val="DCE0E6"/>
            </a:solidFill>
            <a:prstDash val="solid"/>
          </a:ln>
        </p:spPr>
      </p:sp>
      <p:sp>
        <p:nvSpPr>
          <p:cNvPr id="3" name="Text 1"/>
          <p:cNvSpPr/>
          <p:nvPr/>
        </p:nvSpPr>
        <p:spPr>
          <a:xfrm>
            <a:off x="640080" y="1521825"/>
            <a:ext cx="2377440" cy="457200"/>
          </a:xfrm>
          <a:prstGeom prst="rect">
            <a:avLst/>
          </a:prstGeom>
          <a:noFill/>
          <a:ln/>
        </p:spPr>
        <p:txBody>
          <a:bodyPr wrap="square" lIns="0" tIns="0" rIns="0" bIns="0" rtlCol="0" anchor="ctr"/>
          <a:lstStyle/>
          <a:p>
            <a:pPr marL="0" indent="0">
              <a:buNone/>
            </a:pPr>
            <a:r>
              <a:rPr lang="en-US" sz="2200" b="1" dirty="0">
                <a:solidFill>
                  <a:srgbClr val="16203A"/>
                </a:solidFill>
                <a:latin typeface="Cambria" pitchFamily="34" charset="0"/>
                <a:ea typeface="Cambria" pitchFamily="34" charset="-122"/>
                <a:cs typeface="Cambria" pitchFamily="34" charset="-120"/>
              </a:rPr>
              <a:t>CRMEF</a:t>
            </a:r>
            <a:endParaRPr lang="en-US" sz="2200" dirty="0"/>
          </a:p>
        </p:txBody>
      </p:sp>
      <p:sp>
        <p:nvSpPr>
          <p:cNvPr id="4" name="Text 2"/>
          <p:cNvSpPr/>
          <p:nvPr/>
        </p:nvSpPr>
        <p:spPr>
          <a:xfrm>
            <a:off x="640080" y="1951593"/>
            <a:ext cx="2560320" cy="320040"/>
          </a:xfrm>
          <a:prstGeom prst="rect">
            <a:avLst/>
          </a:prstGeom>
          <a:noFill/>
          <a:ln/>
        </p:spPr>
        <p:txBody>
          <a:bodyPr wrap="square" lIns="0" tIns="0" rIns="0" bIns="0" rtlCol="0" anchor="ctr"/>
          <a:lstStyle/>
          <a:p>
            <a:pPr marL="0" indent="0">
              <a:buNone/>
            </a:pPr>
            <a:r>
              <a:rPr lang="en-US" sz="1200" dirty="0">
                <a:solidFill>
                  <a:srgbClr val="5B6470"/>
                </a:solidFill>
                <a:latin typeface="Calibri" pitchFamily="34" charset="0"/>
                <a:ea typeface="Calibri" pitchFamily="34" charset="-122"/>
                <a:cs typeface="Calibri" pitchFamily="34" charset="-120"/>
              </a:rPr>
              <a:t>Casablanca-Settat</a:t>
            </a:r>
            <a:endParaRPr lang="en-US" sz="1200" dirty="0"/>
          </a:p>
        </p:txBody>
      </p:sp>
      <p:sp>
        <p:nvSpPr>
          <p:cNvPr id="5" name="Text 3"/>
          <p:cNvSpPr/>
          <p:nvPr/>
        </p:nvSpPr>
        <p:spPr>
          <a:xfrm>
            <a:off x="640080" y="2286000"/>
            <a:ext cx="2560320" cy="822960"/>
          </a:xfrm>
          <a:prstGeom prst="rect">
            <a:avLst/>
          </a:prstGeom>
          <a:noFill/>
          <a:ln/>
        </p:spPr>
        <p:txBody>
          <a:bodyPr wrap="square" lIns="0" tIns="0" rIns="0" bIns="0" rtlCol="0" anchor="ctr"/>
          <a:lstStyle/>
          <a:p>
            <a:pPr marL="0" indent="0">
              <a:lnSpc>
                <a:spcPct val="125000"/>
              </a:lnSpc>
              <a:buNone/>
            </a:pPr>
            <a:r>
              <a:rPr lang="en-US" sz="1100" dirty="0">
                <a:solidFill>
                  <a:srgbClr val="5B6470"/>
                </a:solidFill>
                <a:latin typeface="Calibri" pitchFamily="34" charset="0"/>
                <a:ea typeface="Calibri" pitchFamily="34" charset="-122"/>
                <a:cs typeface="Calibri" pitchFamily="34" charset="-120"/>
              </a:rPr>
              <a:t>Filière</a:t>
            </a:r>
            <a:endParaRPr lang="en-US" sz="1100" dirty="0"/>
          </a:p>
          <a:p>
            <a:pPr marL="0" indent="0">
              <a:lnSpc>
                <a:spcPct val="125000"/>
              </a:lnSpc>
              <a:buNone/>
            </a:pPr>
            <a:r>
              <a:rPr lang="en-US" sz="1100" dirty="0">
                <a:solidFill>
                  <a:srgbClr val="5B6470"/>
                </a:solidFill>
                <a:latin typeface="Calibri" pitchFamily="34" charset="0"/>
                <a:ea typeface="Calibri" pitchFamily="34" charset="-122"/>
                <a:cs typeface="Calibri" pitchFamily="34" charset="-120"/>
              </a:rPr>
              <a:t>Professeurs de l'enseignement secondaire préparatoire</a:t>
            </a:r>
            <a:endParaRPr lang="en-US" sz="1100" dirty="0"/>
          </a:p>
        </p:txBody>
      </p:sp>
      <p:sp>
        <p:nvSpPr>
          <p:cNvPr id="6" name="Text 4"/>
          <p:cNvSpPr/>
          <p:nvPr/>
        </p:nvSpPr>
        <p:spPr>
          <a:xfrm>
            <a:off x="640080" y="3246120"/>
            <a:ext cx="2560320" cy="365760"/>
          </a:xfrm>
          <a:prstGeom prst="rect">
            <a:avLst/>
          </a:prstGeom>
          <a:noFill/>
          <a:ln/>
        </p:spPr>
        <p:txBody>
          <a:bodyPr wrap="square" lIns="0" tIns="0" rIns="0" bIns="0" rtlCol="0" anchor="ctr"/>
          <a:lstStyle/>
          <a:p>
            <a:pPr marL="0" indent="0">
              <a:buNone/>
            </a:pPr>
            <a:r>
              <a:rPr lang="en-US" sz="1200" b="1" dirty="0">
                <a:solidFill>
                  <a:srgbClr val="1E2A45"/>
                </a:solidFill>
                <a:latin typeface="Calibri" pitchFamily="34" charset="0"/>
                <a:ea typeface="Calibri" pitchFamily="34" charset="-122"/>
                <a:cs typeface="Calibri" pitchFamily="34" charset="-120"/>
              </a:rPr>
              <a:t>Spécialité Informatique</a:t>
            </a:r>
            <a:endParaRPr lang="en-US" sz="1200" dirty="0"/>
          </a:p>
        </p:txBody>
      </p:sp>
      <p:sp>
        <p:nvSpPr>
          <p:cNvPr id="7" name="Text 5"/>
          <p:cNvSpPr/>
          <p:nvPr/>
        </p:nvSpPr>
        <p:spPr>
          <a:xfrm>
            <a:off x="640080" y="5440680"/>
            <a:ext cx="2560320" cy="320040"/>
          </a:xfrm>
          <a:prstGeom prst="rect">
            <a:avLst/>
          </a:prstGeom>
          <a:noFill/>
          <a:ln/>
        </p:spPr>
        <p:txBody>
          <a:bodyPr wrap="square" lIns="0" tIns="0" rIns="0" bIns="0" rtlCol="0" anchor="ctr"/>
          <a:lstStyle/>
          <a:p>
            <a:pPr marL="0" indent="0">
              <a:buNone/>
            </a:pPr>
            <a:r>
              <a:rPr lang="en-US" sz="1050" dirty="0">
                <a:solidFill>
                  <a:srgbClr val="8A92A0"/>
                </a:solidFill>
                <a:latin typeface="Calibri" pitchFamily="34" charset="0"/>
                <a:ea typeface="Calibri" pitchFamily="34" charset="-122"/>
                <a:cs typeface="Calibri" pitchFamily="34" charset="-120"/>
              </a:rPr>
              <a:t>Année de formation 2025 / 2026</a:t>
            </a:r>
            <a:endParaRPr lang="en-US" sz="1050" dirty="0"/>
          </a:p>
        </p:txBody>
      </p:sp>
      <p:sp>
        <p:nvSpPr>
          <p:cNvPr id="8" name="Text 6"/>
          <p:cNvSpPr/>
          <p:nvPr/>
        </p:nvSpPr>
        <p:spPr>
          <a:xfrm>
            <a:off x="3794760" y="1412965"/>
            <a:ext cx="7680960" cy="365760"/>
          </a:xfrm>
          <a:prstGeom prst="rect">
            <a:avLst/>
          </a:prstGeom>
          <a:noFill/>
          <a:ln/>
        </p:spPr>
        <p:txBody>
          <a:bodyPr wrap="square" lIns="0" tIns="0" rIns="0" bIns="0" rtlCol="0" anchor="ctr"/>
          <a:lstStyle/>
          <a:p>
            <a:pPr marL="0" indent="0">
              <a:buNone/>
            </a:pPr>
            <a:r>
              <a:rPr lang="en-US" sz="1250" b="1" kern="0" spc="250" dirty="0">
                <a:solidFill>
                  <a:srgbClr val="5B6470"/>
                </a:solidFill>
                <a:latin typeface="Calibri" pitchFamily="34" charset="0"/>
                <a:ea typeface="Calibri" pitchFamily="34" charset="-122"/>
                <a:cs typeface="Calibri" pitchFamily="34" charset="-120"/>
              </a:rPr>
              <a:t>PROJET PERSONNEL ENCADRÉ</a:t>
            </a:r>
            <a:endParaRPr lang="en-US" sz="1250" dirty="0"/>
          </a:p>
        </p:txBody>
      </p:sp>
      <p:sp>
        <p:nvSpPr>
          <p:cNvPr id="9" name="Text 7"/>
          <p:cNvSpPr/>
          <p:nvPr/>
        </p:nvSpPr>
        <p:spPr>
          <a:xfrm>
            <a:off x="3794760" y="1687290"/>
            <a:ext cx="7772400" cy="2103120"/>
          </a:xfrm>
          <a:prstGeom prst="rect">
            <a:avLst/>
          </a:prstGeom>
          <a:noFill/>
          <a:ln/>
        </p:spPr>
        <p:txBody>
          <a:bodyPr wrap="square" lIns="0" tIns="0" rIns="0" bIns="0" rtlCol="0" anchor="ctr"/>
          <a:lstStyle/>
          <a:p>
            <a:pPr marL="0" indent="0">
              <a:lnSpc>
                <a:spcPct val="108000"/>
              </a:lnSpc>
              <a:buNone/>
            </a:pPr>
            <a:r>
              <a:rPr lang="en-US" sz="3800" b="1" dirty="0">
                <a:solidFill>
                  <a:srgbClr val="16203A"/>
                </a:solidFill>
                <a:latin typeface="Cambria" pitchFamily="34" charset="0"/>
                <a:ea typeface="Cambria" pitchFamily="34" charset="-122"/>
                <a:cs typeface="Cambria" pitchFamily="34" charset="-120"/>
              </a:rPr>
              <a:t>L'impact des réseaux sociaux sur l'attention et les performances scolaires des élèves</a:t>
            </a:r>
            <a:endParaRPr lang="en-US" sz="3800" dirty="0"/>
          </a:p>
        </p:txBody>
      </p:sp>
      <p:sp>
        <p:nvSpPr>
          <p:cNvPr id="10" name="Shape 8"/>
          <p:cNvSpPr/>
          <p:nvPr/>
        </p:nvSpPr>
        <p:spPr>
          <a:xfrm>
            <a:off x="3794760" y="3977640"/>
            <a:ext cx="2377440" cy="0"/>
          </a:xfrm>
          <a:prstGeom prst="line">
            <a:avLst/>
          </a:prstGeom>
          <a:noFill/>
          <a:ln w="22225">
            <a:solidFill>
              <a:srgbClr val="1E2A45"/>
            </a:solidFill>
            <a:prstDash val="solid"/>
          </a:ln>
        </p:spPr>
      </p:sp>
      <p:sp>
        <p:nvSpPr>
          <p:cNvPr id="11" name="Text 9"/>
          <p:cNvSpPr/>
          <p:nvPr/>
        </p:nvSpPr>
        <p:spPr>
          <a:xfrm>
            <a:off x="3794760" y="4251960"/>
            <a:ext cx="3291840" cy="868680"/>
          </a:xfrm>
          <a:prstGeom prst="rect">
            <a:avLst/>
          </a:prstGeom>
          <a:noFill/>
          <a:ln/>
        </p:spPr>
        <p:txBody>
          <a:bodyPr wrap="square" lIns="0" tIns="0" rIns="0" bIns="0" rtlCol="0" anchor="ctr"/>
          <a:lstStyle/>
          <a:p>
            <a:pPr marL="0" indent="0">
              <a:lnSpc>
                <a:spcPct val="130000"/>
              </a:lnSpc>
              <a:buNone/>
            </a:pPr>
            <a:r>
              <a:rPr lang="en-US" sz="1050" dirty="0">
                <a:solidFill>
                  <a:srgbClr val="8A92A0"/>
                </a:solidFill>
                <a:latin typeface="Calibri" pitchFamily="34" charset="0"/>
                <a:ea typeface="Calibri" pitchFamily="34" charset="-122"/>
                <a:cs typeface="Calibri" pitchFamily="34" charset="-120"/>
              </a:rPr>
              <a:t>Présenté par</a:t>
            </a:r>
            <a:endParaRPr lang="en-US" sz="1050" dirty="0"/>
          </a:p>
          <a:p>
            <a:pPr marL="0" indent="0">
              <a:lnSpc>
                <a:spcPct val="130000"/>
              </a:lnSpc>
              <a:buNone/>
            </a:pPr>
            <a:r>
              <a:rPr lang="en-US" sz="1500" b="1" dirty="0">
                <a:solidFill>
                  <a:srgbClr val="16203A"/>
                </a:solidFill>
                <a:latin typeface="Calibri" pitchFamily="34" charset="0"/>
                <a:ea typeface="Calibri" pitchFamily="34" charset="-122"/>
                <a:cs typeface="Calibri" pitchFamily="34" charset="-120"/>
              </a:rPr>
              <a:t>Mouad Mouasseif</a:t>
            </a:r>
            <a:endParaRPr lang="en-US" sz="1050" dirty="0"/>
          </a:p>
        </p:txBody>
      </p:sp>
      <p:sp>
        <p:nvSpPr>
          <p:cNvPr id="12" name="Text 10"/>
          <p:cNvSpPr/>
          <p:nvPr/>
        </p:nvSpPr>
        <p:spPr>
          <a:xfrm>
            <a:off x="6949440" y="4251960"/>
            <a:ext cx="3291840" cy="868680"/>
          </a:xfrm>
          <a:prstGeom prst="rect">
            <a:avLst/>
          </a:prstGeom>
          <a:noFill/>
          <a:ln/>
        </p:spPr>
        <p:txBody>
          <a:bodyPr wrap="square" lIns="0" tIns="0" rIns="0" bIns="0" rtlCol="0" anchor="ctr"/>
          <a:lstStyle/>
          <a:p>
            <a:pPr marL="0" indent="0">
              <a:lnSpc>
                <a:spcPct val="130000"/>
              </a:lnSpc>
              <a:buNone/>
            </a:pPr>
            <a:r>
              <a:rPr lang="en-US" sz="1050" dirty="0">
                <a:solidFill>
                  <a:srgbClr val="8A92A0"/>
                </a:solidFill>
                <a:latin typeface="Calibri" pitchFamily="34" charset="0"/>
                <a:ea typeface="Calibri" pitchFamily="34" charset="-122"/>
                <a:cs typeface="Calibri" pitchFamily="34" charset="-120"/>
              </a:rPr>
              <a:t>Encadré par</a:t>
            </a:r>
            <a:endParaRPr lang="en-US" sz="1050" dirty="0"/>
          </a:p>
          <a:p>
            <a:pPr marL="0" indent="0">
              <a:lnSpc>
                <a:spcPct val="130000"/>
              </a:lnSpc>
              <a:buNone/>
            </a:pPr>
            <a:r>
              <a:rPr lang="en-US" sz="1500" b="1" dirty="0">
                <a:solidFill>
                  <a:srgbClr val="16203A"/>
                </a:solidFill>
                <a:latin typeface="Calibri" pitchFamily="34" charset="0"/>
                <a:ea typeface="Calibri" pitchFamily="34" charset="-122"/>
                <a:cs typeface="Calibri" pitchFamily="34" charset="-120"/>
              </a:rPr>
              <a:t>Pr. Lahraichi</a:t>
            </a:r>
            <a:endParaRPr lang="en-US" sz="1050" dirty="0"/>
          </a:p>
        </p:txBody>
      </p:sp>
      <p:sp>
        <p:nvSpPr>
          <p:cNvPr id="13" name="Text 11"/>
          <p:cNvSpPr/>
          <p:nvPr/>
        </p:nvSpPr>
        <p:spPr>
          <a:xfrm>
            <a:off x="3794760" y="5349240"/>
            <a:ext cx="5486400" cy="320040"/>
          </a:xfrm>
          <a:prstGeom prst="rect">
            <a:avLst/>
          </a:prstGeom>
          <a:noFill/>
          <a:ln/>
        </p:spPr>
        <p:txBody>
          <a:bodyPr wrap="square" lIns="0" tIns="0" rIns="0" bIns="0" rtlCol="0" anchor="ctr"/>
          <a:lstStyle/>
          <a:p>
            <a:pPr marL="0" indent="0">
              <a:buNone/>
            </a:pPr>
            <a:r>
              <a:rPr lang="en-US" sz="1100" i="1" dirty="0">
                <a:solidFill>
                  <a:srgbClr val="5B6470"/>
                </a:solidFill>
                <a:latin typeface="Calibri" pitchFamily="34" charset="0"/>
                <a:ea typeface="Calibri" pitchFamily="34" charset="-122"/>
                <a:cs typeface="Calibri" pitchFamily="34" charset="-120"/>
              </a:rPr>
              <a:t>Soutenu en juin 2026 devant les membres du jury</a:t>
            </a:r>
            <a:endParaRPr lang="en-US" sz="1100" dirty="0"/>
          </a:p>
        </p:txBody>
      </p:sp>
      <p:pic>
        <p:nvPicPr>
          <p:cNvPr id="14" name="Image 0" descr="icons/grad_navy.png"/>
          <p:cNvPicPr>
            <a:picLocks noChangeAspect="1"/>
          </p:cNvPicPr>
          <p:nvPr/>
        </p:nvPicPr>
        <p:blipFill>
          <a:blip r:embed="rId3"/>
          <a:stretch>
            <a:fillRect/>
          </a:stretch>
        </p:blipFill>
        <p:spPr>
          <a:xfrm>
            <a:off x="10911836" y="5618118"/>
            <a:ext cx="457200" cy="457200"/>
          </a:xfrm>
          <a:prstGeom prst="rect">
            <a:avLst/>
          </a:prstGeom>
        </p:spPr>
      </p:pic>
      <p:pic>
        <p:nvPicPr>
          <p:cNvPr id="16" name="Image 15">
            <a:extLst>
              <a:ext uri="{FF2B5EF4-FFF2-40B4-BE49-F238E27FC236}">
                <a16:creationId xmlns:a16="http://schemas.microsoft.com/office/drawing/2014/main" id="{6EE85F39-E981-CF5D-D705-DB2A6CB71AA6}"/>
              </a:ext>
            </a:extLst>
          </p:cNvPr>
          <p:cNvPicPr>
            <a:picLocks noChangeAspect="1"/>
          </p:cNvPicPr>
          <p:nvPr/>
        </p:nvPicPr>
        <p:blipFill>
          <a:blip r:embed="rId4"/>
          <a:stretch>
            <a:fillRect/>
          </a:stretch>
        </p:blipFill>
        <p:spPr>
          <a:xfrm>
            <a:off x="278676" y="200126"/>
            <a:ext cx="2806250" cy="1344863"/>
          </a:xfrm>
          <a:prstGeom prst="rect">
            <a:avLst/>
          </a:prstGeom>
        </p:spPr>
      </p:pic>
      <p:pic>
        <p:nvPicPr>
          <p:cNvPr id="18" name="Image 17">
            <a:extLst>
              <a:ext uri="{FF2B5EF4-FFF2-40B4-BE49-F238E27FC236}">
                <a16:creationId xmlns:a16="http://schemas.microsoft.com/office/drawing/2014/main" id="{9D3233A5-806E-B2AB-C7FC-13074F653185}"/>
              </a:ext>
            </a:extLst>
          </p:cNvPr>
          <p:cNvPicPr>
            <a:picLocks noChangeAspect="1"/>
          </p:cNvPicPr>
          <p:nvPr/>
        </p:nvPicPr>
        <p:blipFill>
          <a:blip r:embed="rId5"/>
          <a:stretch>
            <a:fillRect/>
          </a:stretch>
        </p:blipFill>
        <p:spPr>
          <a:xfrm>
            <a:off x="6670766" y="200126"/>
            <a:ext cx="5014071" cy="1197486"/>
          </a:xfrm>
          <a:prstGeom prst="rect">
            <a:avLst/>
          </a:prstGeom>
        </p:spPr>
      </p:pic>
      <p:pic>
        <p:nvPicPr>
          <p:cNvPr id="20" name="Image 19">
            <a:extLst>
              <a:ext uri="{FF2B5EF4-FFF2-40B4-BE49-F238E27FC236}">
                <a16:creationId xmlns:a16="http://schemas.microsoft.com/office/drawing/2014/main" id="{83BA3C18-1EC0-66E5-2725-2A6010ED134B}"/>
              </a:ext>
            </a:extLst>
          </p:cNvPr>
          <p:cNvPicPr>
            <a:picLocks noChangeAspect="1"/>
          </p:cNvPicPr>
          <p:nvPr/>
        </p:nvPicPr>
        <p:blipFill>
          <a:blip r:embed="rId6"/>
          <a:stretch>
            <a:fillRect/>
          </a:stretch>
        </p:blipFill>
        <p:spPr>
          <a:xfrm>
            <a:off x="10746606" y="5859121"/>
            <a:ext cx="709520" cy="5939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292608"/>
          </a:xfrm>
          <a:prstGeom prst="rect">
            <a:avLst/>
          </a:prstGeom>
          <a:noFill/>
          <a:ln/>
        </p:spPr>
        <p:txBody>
          <a:bodyPr wrap="square" lIns="0" tIns="0" rIns="0" bIns="0" rtlCol="0" anchor="ctr"/>
          <a:lstStyle/>
          <a:p>
            <a:pPr marL="0" indent="0">
              <a:buNone/>
            </a:pPr>
            <a:r>
              <a:rPr lang="en-US" sz="1150" b="1" kern="0" spc="220" dirty="0">
                <a:solidFill>
                  <a:srgbClr val="1E2A45"/>
                </a:solidFill>
                <a:latin typeface="Calibri" pitchFamily="34" charset="0"/>
                <a:ea typeface="Calibri" pitchFamily="34" charset="-122"/>
                <a:cs typeface="Calibri" pitchFamily="34" charset="-120"/>
              </a:rPr>
              <a:t>SOMMAIRE</a:t>
            </a:r>
            <a:endParaRPr lang="en-US" sz="1150" dirty="0"/>
          </a:p>
        </p:txBody>
      </p:sp>
      <p:sp>
        <p:nvSpPr>
          <p:cNvPr id="3" name="Text 1"/>
          <p:cNvSpPr/>
          <p:nvPr/>
        </p:nvSpPr>
        <p:spPr>
          <a:xfrm>
            <a:off x="640080" y="713232"/>
            <a:ext cx="10607040" cy="640080"/>
          </a:xfrm>
          <a:prstGeom prst="rect">
            <a:avLst/>
          </a:prstGeom>
          <a:noFill/>
          <a:ln/>
        </p:spPr>
        <p:txBody>
          <a:bodyPr wrap="square" lIns="0" tIns="0" rIns="0" bIns="0" rtlCol="0" anchor="ctr"/>
          <a:lstStyle/>
          <a:p>
            <a:pPr marL="0" indent="0">
              <a:buNone/>
            </a:pPr>
            <a:r>
              <a:rPr lang="en-US" sz="3000" b="1" dirty="0">
                <a:solidFill>
                  <a:srgbClr val="16203A"/>
                </a:solidFill>
                <a:latin typeface="Cambria" pitchFamily="34" charset="0"/>
                <a:ea typeface="Cambria" pitchFamily="34" charset="-122"/>
                <a:cs typeface="Cambria" pitchFamily="34" charset="-120"/>
              </a:rPr>
              <a:t>Plan de la présentation</a:t>
            </a:r>
            <a:endParaRPr lang="en-US" sz="3000" dirty="0"/>
          </a:p>
        </p:txBody>
      </p:sp>
      <p:sp>
        <p:nvSpPr>
          <p:cNvPr id="4" name="Text 2"/>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900" dirty="0">
                <a:solidFill>
                  <a:srgbClr val="8A92A0"/>
                </a:solidFill>
                <a:latin typeface="Calibri" pitchFamily="34" charset="0"/>
                <a:ea typeface="Calibri" pitchFamily="34" charset="-122"/>
                <a:cs typeface="Calibri" pitchFamily="34" charset="-120"/>
              </a:rPr>
              <a:t>02 / 13</a:t>
            </a:r>
            <a:endParaRPr lang="en-US" sz="900" dirty="0"/>
          </a:p>
        </p:txBody>
      </p:sp>
      <p:sp>
        <p:nvSpPr>
          <p:cNvPr id="5" name="Text 3"/>
          <p:cNvSpPr/>
          <p:nvPr/>
        </p:nvSpPr>
        <p:spPr>
          <a:xfrm>
            <a:off x="640080" y="6446520"/>
            <a:ext cx="6400800" cy="274320"/>
          </a:xfrm>
          <a:prstGeom prst="rect">
            <a:avLst/>
          </a:prstGeom>
          <a:noFill/>
          <a:ln/>
        </p:spPr>
        <p:txBody>
          <a:bodyPr wrap="square" lIns="0" tIns="0" rIns="0" bIns="0" rtlCol="0" anchor="ctr"/>
          <a:lstStyle/>
          <a:p>
            <a:pPr marL="0" indent="0">
              <a:buNone/>
            </a:pPr>
            <a:r>
              <a:rPr lang="en-US" sz="900" kern="0" spc="100" dirty="0">
                <a:solidFill>
                  <a:srgbClr val="8A92A0"/>
                </a:solidFill>
                <a:latin typeface="Calibri" pitchFamily="34" charset="0"/>
                <a:ea typeface="Calibri" pitchFamily="34" charset="-122"/>
                <a:cs typeface="Calibri" pitchFamily="34" charset="-120"/>
              </a:rPr>
              <a:t>PROJET PERSONNEL ENCADRÉ  •  CRMEF CASABLANCA-SETTAT</a:t>
            </a:r>
            <a:endParaRPr lang="en-US" sz="900" dirty="0"/>
          </a:p>
        </p:txBody>
      </p:sp>
      <p:sp>
        <p:nvSpPr>
          <p:cNvPr id="6" name="Shape 4"/>
          <p:cNvSpPr/>
          <p:nvPr/>
        </p:nvSpPr>
        <p:spPr>
          <a:xfrm>
            <a:off x="640080" y="3200400"/>
            <a:ext cx="5074920" cy="0"/>
          </a:xfrm>
          <a:prstGeom prst="line">
            <a:avLst/>
          </a:prstGeom>
          <a:noFill/>
          <a:ln w="12700">
            <a:solidFill>
              <a:srgbClr val="DCE0E6"/>
            </a:solidFill>
            <a:prstDash val="solid"/>
          </a:ln>
        </p:spPr>
      </p:sp>
      <p:sp>
        <p:nvSpPr>
          <p:cNvPr id="7" name="Text 5"/>
          <p:cNvSpPr/>
          <p:nvPr/>
        </p:nvSpPr>
        <p:spPr>
          <a:xfrm>
            <a:off x="640080" y="1856232"/>
            <a:ext cx="914400" cy="640080"/>
          </a:xfrm>
          <a:prstGeom prst="rect">
            <a:avLst/>
          </a:prstGeom>
          <a:noFill/>
          <a:ln/>
        </p:spPr>
        <p:txBody>
          <a:bodyPr wrap="square" lIns="0" tIns="0" rIns="0" bIns="0" rtlCol="0" anchor="ctr"/>
          <a:lstStyle/>
          <a:p>
            <a:pPr marL="0" indent="0">
              <a:buNone/>
            </a:pPr>
            <a:r>
              <a:rPr lang="en-US" sz="3000" b="1" dirty="0">
                <a:solidFill>
                  <a:srgbClr val="DCE0E6"/>
                </a:solidFill>
                <a:latin typeface="Cambria" pitchFamily="34" charset="0"/>
                <a:ea typeface="Cambria" pitchFamily="34" charset="-122"/>
                <a:cs typeface="Cambria" pitchFamily="34" charset="-120"/>
              </a:rPr>
              <a:t>01</a:t>
            </a:r>
            <a:endParaRPr lang="en-US" sz="3000" dirty="0"/>
          </a:p>
        </p:txBody>
      </p:sp>
      <p:sp>
        <p:nvSpPr>
          <p:cNvPr id="8" name="Text 6"/>
          <p:cNvSpPr/>
          <p:nvPr/>
        </p:nvSpPr>
        <p:spPr>
          <a:xfrm>
            <a:off x="1554480" y="1892808"/>
            <a:ext cx="4160520" cy="411480"/>
          </a:xfrm>
          <a:prstGeom prst="rect">
            <a:avLst/>
          </a:prstGeom>
          <a:noFill/>
          <a:ln/>
        </p:spPr>
        <p:txBody>
          <a:bodyPr wrap="square" lIns="0" tIns="0" rIns="0" bIns="0" rtlCol="0" anchor="ctr"/>
          <a:lstStyle/>
          <a:p>
            <a:pPr marL="0" indent="0">
              <a:buNone/>
            </a:pPr>
            <a:r>
              <a:rPr lang="en-US" sz="1600" b="1" dirty="0">
                <a:solidFill>
                  <a:srgbClr val="16203A"/>
                </a:solidFill>
                <a:latin typeface="Calibri" pitchFamily="34" charset="0"/>
                <a:ea typeface="Calibri" pitchFamily="34" charset="-122"/>
                <a:cs typeface="Calibri" pitchFamily="34" charset="-120"/>
              </a:rPr>
              <a:t>Introduction &amp; problématique</a:t>
            </a:r>
            <a:endParaRPr lang="en-US" sz="1600" dirty="0"/>
          </a:p>
        </p:txBody>
      </p:sp>
      <p:sp>
        <p:nvSpPr>
          <p:cNvPr id="9" name="Text 7"/>
          <p:cNvSpPr/>
          <p:nvPr/>
        </p:nvSpPr>
        <p:spPr>
          <a:xfrm>
            <a:off x="1554480" y="2313432"/>
            <a:ext cx="4160520" cy="548640"/>
          </a:xfrm>
          <a:prstGeom prst="rect">
            <a:avLst/>
          </a:prstGeom>
          <a:noFill/>
          <a:ln/>
        </p:spPr>
        <p:txBody>
          <a:bodyPr wrap="square" lIns="0" tIns="0" rIns="0" bIns="0" rtlCol="0" anchor="ctr"/>
          <a:lstStyle/>
          <a:p>
            <a:pPr marL="0" indent="0">
              <a:lnSpc>
                <a:spcPct val="120000"/>
              </a:lnSpc>
              <a:buNone/>
            </a:pPr>
            <a:r>
              <a:rPr lang="en-US" sz="1150" dirty="0">
                <a:solidFill>
                  <a:srgbClr val="5B6470"/>
                </a:solidFill>
                <a:latin typeface="Calibri" pitchFamily="34" charset="0"/>
                <a:ea typeface="Calibri" pitchFamily="34" charset="-122"/>
                <a:cs typeface="Calibri" pitchFamily="34" charset="-120"/>
              </a:rPr>
              <a:t>Contexte, questions de recherche et objectifs</a:t>
            </a:r>
            <a:endParaRPr lang="en-US" sz="1150" dirty="0"/>
          </a:p>
        </p:txBody>
      </p:sp>
      <p:sp>
        <p:nvSpPr>
          <p:cNvPr id="10" name="Shape 8"/>
          <p:cNvSpPr/>
          <p:nvPr/>
        </p:nvSpPr>
        <p:spPr>
          <a:xfrm>
            <a:off x="6172200" y="3200400"/>
            <a:ext cx="5074920" cy="0"/>
          </a:xfrm>
          <a:prstGeom prst="line">
            <a:avLst/>
          </a:prstGeom>
          <a:noFill/>
          <a:ln w="12700">
            <a:solidFill>
              <a:srgbClr val="DCE0E6"/>
            </a:solidFill>
            <a:prstDash val="solid"/>
          </a:ln>
        </p:spPr>
      </p:sp>
      <p:sp>
        <p:nvSpPr>
          <p:cNvPr id="11" name="Text 9"/>
          <p:cNvSpPr/>
          <p:nvPr/>
        </p:nvSpPr>
        <p:spPr>
          <a:xfrm>
            <a:off x="6172200" y="1856232"/>
            <a:ext cx="914400" cy="640080"/>
          </a:xfrm>
          <a:prstGeom prst="rect">
            <a:avLst/>
          </a:prstGeom>
          <a:noFill/>
          <a:ln/>
        </p:spPr>
        <p:txBody>
          <a:bodyPr wrap="square" lIns="0" tIns="0" rIns="0" bIns="0" rtlCol="0" anchor="ctr"/>
          <a:lstStyle/>
          <a:p>
            <a:pPr marL="0" indent="0">
              <a:buNone/>
            </a:pPr>
            <a:r>
              <a:rPr lang="en-US" sz="3000" b="1" dirty="0">
                <a:solidFill>
                  <a:srgbClr val="DCE0E6"/>
                </a:solidFill>
                <a:latin typeface="Cambria" pitchFamily="34" charset="0"/>
                <a:ea typeface="Cambria" pitchFamily="34" charset="-122"/>
                <a:cs typeface="Cambria" pitchFamily="34" charset="-120"/>
              </a:rPr>
              <a:t>02</a:t>
            </a:r>
            <a:endParaRPr lang="en-US" sz="3000" dirty="0"/>
          </a:p>
        </p:txBody>
      </p:sp>
      <p:sp>
        <p:nvSpPr>
          <p:cNvPr id="12" name="Text 10"/>
          <p:cNvSpPr/>
          <p:nvPr/>
        </p:nvSpPr>
        <p:spPr>
          <a:xfrm>
            <a:off x="7086600" y="1892808"/>
            <a:ext cx="4160520" cy="411480"/>
          </a:xfrm>
          <a:prstGeom prst="rect">
            <a:avLst/>
          </a:prstGeom>
          <a:noFill/>
          <a:ln/>
        </p:spPr>
        <p:txBody>
          <a:bodyPr wrap="square" lIns="0" tIns="0" rIns="0" bIns="0" rtlCol="0" anchor="ctr"/>
          <a:lstStyle/>
          <a:p>
            <a:pPr marL="0" indent="0">
              <a:buNone/>
            </a:pPr>
            <a:r>
              <a:rPr lang="en-US" sz="1600" b="1" dirty="0">
                <a:solidFill>
                  <a:srgbClr val="16203A"/>
                </a:solidFill>
                <a:latin typeface="Calibri" pitchFamily="34" charset="0"/>
                <a:ea typeface="Calibri" pitchFamily="34" charset="-122"/>
                <a:cs typeface="Calibri" pitchFamily="34" charset="-120"/>
              </a:rPr>
              <a:t>Cadre théorique</a:t>
            </a:r>
            <a:endParaRPr lang="en-US" sz="1600" dirty="0"/>
          </a:p>
        </p:txBody>
      </p:sp>
      <p:sp>
        <p:nvSpPr>
          <p:cNvPr id="13" name="Text 11"/>
          <p:cNvSpPr/>
          <p:nvPr/>
        </p:nvSpPr>
        <p:spPr>
          <a:xfrm>
            <a:off x="7086600" y="2313432"/>
            <a:ext cx="4160520" cy="548640"/>
          </a:xfrm>
          <a:prstGeom prst="rect">
            <a:avLst/>
          </a:prstGeom>
          <a:noFill/>
          <a:ln/>
        </p:spPr>
        <p:txBody>
          <a:bodyPr wrap="square" lIns="0" tIns="0" rIns="0" bIns="0" rtlCol="0" anchor="ctr"/>
          <a:lstStyle/>
          <a:p>
            <a:pPr marL="0" indent="0">
              <a:lnSpc>
                <a:spcPct val="120000"/>
              </a:lnSpc>
              <a:buNone/>
            </a:pPr>
            <a:r>
              <a:rPr lang="en-US" sz="1150" dirty="0">
                <a:solidFill>
                  <a:srgbClr val="5B6470"/>
                </a:solidFill>
                <a:latin typeface="Calibri" pitchFamily="34" charset="0"/>
                <a:ea typeface="Calibri" pitchFamily="34" charset="-122"/>
                <a:cs typeface="Calibri" pitchFamily="34" charset="-120"/>
              </a:rPr>
              <a:t>Réseaux sociaux, psychologie cognitive, usage au Maroc</a:t>
            </a:r>
            <a:endParaRPr lang="en-US" sz="1150" dirty="0"/>
          </a:p>
        </p:txBody>
      </p:sp>
      <p:sp>
        <p:nvSpPr>
          <p:cNvPr id="14" name="Shape 12"/>
          <p:cNvSpPr/>
          <p:nvPr/>
        </p:nvSpPr>
        <p:spPr>
          <a:xfrm>
            <a:off x="640080" y="4846320"/>
            <a:ext cx="5074920" cy="0"/>
          </a:xfrm>
          <a:prstGeom prst="line">
            <a:avLst/>
          </a:prstGeom>
          <a:noFill/>
          <a:ln w="12700">
            <a:solidFill>
              <a:srgbClr val="DCE0E6"/>
            </a:solidFill>
            <a:prstDash val="solid"/>
          </a:ln>
        </p:spPr>
      </p:sp>
      <p:sp>
        <p:nvSpPr>
          <p:cNvPr id="15" name="Text 13"/>
          <p:cNvSpPr/>
          <p:nvPr/>
        </p:nvSpPr>
        <p:spPr>
          <a:xfrm>
            <a:off x="640080" y="3502152"/>
            <a:ext cx="914400" cy="640080"/>
          </a:xfrm>
          <a:prstGeom prst="rect">
            <a:avLst/>
          </a:prstGeom>
          <a:noFill/>
          <a:ln/>
        </p:spPr>
        <p:txBody>
          <a:bodyPr wrap="square" lIns="0" tIns="0" rIns="0" bIns="0" rtlCol="0" anchor="ctr"/>
          <a:lstStyle/>
          <a:p>
            <a:pPr marL="0" indent="0">
              <a:buNone/>
            </a:pPr>
            <a:r>
              <a:rPr lang="en-US" sz="3000" b="1" dirty="0">
                <a:solidFill>
                  <a:srgbClr val="DCE0E6"/>
                </a:solidFill>
                <a:latin typeface="Cambria" pitchFamily="34" charset="0"/>
                <a:ea typeface="Cambria" pitchFamily="34" charset="-122"/>
                <a:cs typeface="Cambria" pitchFamily="34" charset="-120"/>
              </a:rPr>
              <a:t>03</a:t>
            </a:r>
            <a:endParaRPr lang="en-US" sz="3000" dirty="0"/>
          </a:p>
        </p:txBody>
      </p:sp>
      <p:sp>
        <p:nvSpPr>
          <p:cNvPr id="16" name="Text 14"/>
          <p:cNvSpPr/>
          <p:nvPr/>
        </p:nvSpPr>
        <p:spPr>
          <a:xfrm>
            <a:off x="1554480" y="3538728"/>
            <a:ext cx="4160520" cy="411480"/>
          </a:xfrm>
          <a:prstGeom prst="rect">
            <a:avLst/>
          </a:prstGeom>
          <a:noFill/>
          <a:ln/>
        </p:spPr>
        <p:txBody>
          <a:bodyPr wrap="square" lIns="0" tIns="0" rIns="0" bIns="0" rtlCol="0" anchor="ctr"/>
          <a:lstStyle/>
          <a:p>
            <a:pPr marL="0" indent="0">
              <a:buNone/>
            </a:pPr>
            <a:r>
              <a:rPr lang="en-US" sz="1600" b="1" dirty="0">
                <a:solidFill>
                  <a:srgbClr val="16203A"/>
                </a:solidFill>
                <a:latin typeface="Calibri" pitchFamily="34" charset="0"/>
                <a:ea typeface="Calibri" pitchFamily="34" charset="-122"/>
                <a:cs typeface="Calibri" pitchFamily="34" charset="-120"/>
              </a:rPr>
              <a:t>Méthodologie</a:t>
            </a:r>
            <a:endParaRPr lang="en-US" sz="1600" dirty="0"/>
          </a:p>
        </p:txBody>
      </p:sp>
      <p:sp>
        <p:nvSpPr>
          <p:cNvPr id="17" name="Text 15"/>
          <p:cNvSpPr/>
          <p:nvPr/>
        </p:nvSpPr>
        <p:spPr>
          <a:xfrm>
            <a:off x="1554480" y="3959352"/>
            <a:ext cx="4160520" cy="548640"/>
          </a:xfrm>
          <a:prstGeom prst="rect">
            <a:avLst/>
          </a:prstGeom>
          <a:noFill/>
          <a:ln/>
        </p:spPr>
        <p:txBody>
          <a:bodyPr wrap="square" lIns="0" tIns="0" rIns="0" bIns="0" rtlCol="0" anchor="ctr"/>
          <a:lstStyle/>
          <a:p>
            <a:pPr marL="0" indent="0">
              <a:lnSpc>
                <a:spcPct val="120000"/>
              </a:lnSpc>
              <a:buNone/>
            </a:pPr>
            <a:r>
              <a:rPr lang="en-US" sz="1150" dirty="0">
                <a:solidFill>
                  <a:srgbClr val="5B6470"/>
                </a:solidFill>
                <a:latin typeface="Calibri" pitchFamily="34" charset="0"/>
                <a:ea typeface="Calibri" pitchFamily="34" charset="-122"/>
                <a:cs typeface="Calibri" pitchFamily="34" charset="-120"/>
              </a:rPr>
              <a:t>Observation de terrain et questionnaire enseignants</a:t>
            </a:r>
            <a:endParaRPr lang="en-US" sz="1150" dirty="0"/>
          </a:p>
        </p:txBody>
      </p:sp>
      <p:sp>
        <p:nvSpPr>
          <p:cNvPr id="18" name="Shape 16"/>
          <p:cNvSpPr/>
          <p:nvPr/>
        </p:nvSpPr>
        <p:spPr>
          <a:xfrm>
            <a:off x="6172200" y="4846320"/>
            <a:ext cx="5074920" cy="0"/>
          </a:xfrm>
          <a:prstGeom prst="line">
            <a:avLst/>
          </a:prstGeom>
          <a:noFill/>
          <a:ln w="12700">
            <a:solidFill>
              <a:srgbClr val="DCE0E6"/>
            </a:solidFill>
            <a:prstDash val="solid"/>
          </a:ln>
        </p:spPr>
      </p:sp>
      <p:sp>
        <p:nvSpPr>
          <p:cNvPr id="19" name="Text 17"/>
          <p:cNvSpPr/>
          <p:nvPr/>
        </p:nvSpPr>
        <p:spPr>
          <a:xfrm>
            <a:off x="6172200" y="3502152"/>
            <a:ext cx="914400" cy="640080"/>
          </a:xfrm>
          <a:prstGeom prst="rect">
            <a:avLst/>
          </a:prstGeom>
          <a:noFill/>
          <a:ln/>
        </p:spPr>
        <p:txBody>
          <a:bodyPr wrap="square" lIns="0" tIns="0" rIns="0" bIns="0" rtlCol="0" anchor="ctr"/>
          <a:lstStyle/>
          <a:p>
            <a:pPr marL="0" indent="0">
              <a:buNone/>
            </a:pPr>
            <a:r>
              <a:rPr lang="en-US" sz="3000" b="1" dirty="0">
                <a:solidFill>
                  <a:srgbClr val="DCE0E6"/>
                </a:solidFill>
                <a:latin typeface="Cambria" pitchFamily="34" charset="0"/>
                <a:ea typeface="Cambria" pitchFamily="34" charset="-122"/>
                <a:cs typeface="Cambria" pitchFamily="34" charset="-120"/>
              </a:rPr>
              <a:t>04</a:t>
            </a:r>
            <a:endParaRPr lang="en-US" sz="3000" dirty="0"/>
          </a:p>
        </p:txBody>
      </p:sp>
      <p:sp>
        <p:nvSpPr>
          <p:cNvPr id="20" name="Text 18"/>
          <p:cNvSpPr/>
          <p:nvPr/>
        </p:nvSpPr>
        <p:spPr>
          <a:xfrm>
            <a:off x="7086600" y="3538728"/>
            <a:ext cx="4160520" cy="411480"/>
          </a:xfrm>
          <a:prstGeom prst="rect">
            <a:avLst/>
          </a:prstGeom>
          <a:noFill/>
          <a:ln/>
        </p:spPr>
        <p:txBody>
          <a:bodyPr wrap="square" lIns="0" tIns="0" rIns="0" bIns="0" rtlCol="0" anchor="ctr"/>
          <a:lstStyle/>
          <a:p>
            <a:pPr marL="0" indent="0">
              <a:buNone/>
            </a:pPr>
            <a:r>
              <a:rPr lang="en-US" sz="1600" b="1" dirty="0">
                <a:solidFill>
                  <a:srgbClr val="16203A"/>
                </a:solidFill>
                <a:latin typeface="Calibri" pitchFamily="34" charset="0"/>
                <a:ea typeface="Calibri" pitchFamily="34" charset="-122"/>
                <a:cs typeface="Calibri" pitchFamily="34" charset="-120"/>
              </a:rPr>
              <a:t>Analyse des résultats</a:t>
            </a:r>
            <a:endParaRPr lang="en-US" sz="1600" dirty="0"/>
          </a:p>
        </p:txBody>
      </p:sp>
      <p:sp>
        <p:nvSpPr>
          <p:cNvPr id="21" name="Text 19"/>
          <p:cNvSpPr/>
          <p:nvPr/>
        </p:nvSpPr>
        <p:spPr>
          <a:xfrm>
            <a:off x="7086600" y="3959352"/>
            <a:ext cx="4160520" cy="548640"/>
          </a:xfrm>
          <a:prstGeom prst="rect">
            <a:avLst/>
          </a:prstGeom>
          <a:noFill/>
          <a:ln/>
        </p:spPr>
        <p:txBody>
          <a:bodyPr wrap="square" lIns="0" tIns="0" rIns="0" bIns="0" rtlCol="0" anchor="ctr"/>
          <a:lstStyle/>
          <a:p>
            <a:pPr marL="0" indent="0">
              <a:lnSpc>
                <a:spcPct val="120000"/>
              </a:lnSpc>
              <a:buNone/>
            </a:pPr>
            <a:r>
              <a:rPr lang="en-US" sz="1150" dirty="0">
                <a:solidFill>
                  <a:srgbClr val="5B6470"/>
                </a:solidFill>
                <a:latin typeface="Calibri" pitchFamily="34" charset="0"/>
                <a:ea typeface="Calibri" pitchFamily="34" charset="-122"/>
                <a:cs typeface="Calibri" pitchFamily="34" charset="-120"/>
              </a:rPr>
              <a:t>Données quantitatives et qualitatives</a:t>
            </a:r>
            <a:endParaRPr lang="en-US" sz="1150" dirty="0"/>
          </a:p>
        </p:txBody>
      </p:sp>
      <p:sp>
        <p:nvSpPr>
          <p:cNvPr id="22" name="Shape 20"/>
          <p:cNvSpPr/>
          <p:nvPr/>
        </p:nvSpPr>
        <p:spPr>
          <a:xfrm>
            <a:off x="640080" y="6492240"/>
            <a:ext cx="5074920" cy="0"/>
          </a:xfrm>
          <a:prstGeom prst="line">
            <a:avLst/>
          </a:prstGeom>
          <a:noFill/>
          <a:ln w="12700">
            <a:solidFill>
              <a:srgbClr val="DCE0E6"/>
            </a:solidFill>
            <a:prstDash val="solid"/>
          </a:ln>
        </p:spPr>
      </p:sp>
      <p:sp>
        <p:nvSpPr>
          <p:cNvPr id="23" name="Text 21"/>
          <p:cNvSpPr/>
          <p:nvPr/>
        </p:nvSpPr>
        <p:spPr>
          <a:xfrm>
            <a:off x="640080" y="5148072"/>
            <a:ext cx="914400" cy="640080"/>
          </a:xfrm>
          <a:prstGeom prst="rect">
            <a:avLst/>
          </a:prstGeom>
          <a:noFill/>
          <a:ln/>
        </p:spPr>
        <p:txBody>
          <a:bodyPr wrap="square" lIns="0" tIns="0" rIns="0" bIns="0" rtlCol="0" anchor="ctr"/>
          <a:lstStyle/>
          <a:p>
            <a:pPr marL="0" indent="0">
              <a:buNone/>
            </a:pPr>
            <a:r>
              <a:rPr lang="en-US" sz="3000" b="1" dirty="0">
                <a:solidFill>
                  <a:srgbClr val="DCE0E6"/>
                </a:solidFill>
                <a:latin typeface="Cambria" pitchFamily="34" charset="0"/>
                <a:ea typeface="Cambria" pitchFamily="34" charset="-122"/>
                <a:cs typeface="Cambria" pitchFamily="34" charset="-120"/>
              </a:rPr>
              <a:t>05</a:t>
            </a:r>
            <a:endParaRPr lang="en-US" sz="3000" dirty="0"/>
          </a:p>
        </p:txBody>
      </p:sp>
      <p:sp>
        <p:nvSpPr>
          <p:cNvPr id="24" name="Text 22"/>
          <p:cNvSpPr/>
          <p:nvPr/>
        </p:nvSpPr>
        <p:spPr>
          <a:xfrm>
            <a:off x="1554480" y="5184648"/>
            <a:ext cx="4160520" cy="411480"/>
          </a:xfrm>
          <a:prstGeom prst="rect">
            <a:avLst/>
          </a:prstGeom>
          <a:noFill/>
          <a:ln/>
        </p:spPr>
        <p:txBody>
          <a:bodyPr wrap="square" lIns="0" tIns="0" rIns="0" bIns="0" rtlCol="0" anchor="ctr"/>
          <a:lstStyle/>
          <a:p>
            <a:pPr marL="0" indent="0">
              <a:buNone/>
            </a:pPr>
            <a:r>
              <a:rPr lang="en-US" sz="1600" b="1" dirty="0">
                <a:solidFill>
                  <a:srgbClr val="16203A"/>
                </a:solidFill>
                <a:latin typeface="Calibri" pitchFamily="34" charset="0"/>
                <a:ea typeface="Calibri" pitchFamily="34" charset="-122"/>
                <a:cs typeface="Calibri" pitchFamily="34" charset="-120"/>
              </a:rPr>
              <a:t>Cadre pratique</a:t>
            </a:r>
            <a:endParaRPr lang="en-US" sz="1600" dirty="0"/>
          </a:p>
        </p:txBody>
      </p:sp>
      <p:sp>
        <p:nvSpPr>
          <p:cNvPr id="25" name="Text 23"/>
          <p:cNvSpPr/>
          <p:nvPr/>
        </p:nvSpPr>
        <p:spPr>
          <a:xfrm>
            <a:off x="1554480" y="5605272"/>
            <a:ext cx="4160520" cy="548640"/>
          </a:xfrm>
          <a:prstGeom prst="rect">
            <a:avLst/>
          </a:prstGeom>
          <a:noFill/>
          <a:ln/>
        </p:spPr>
        <p:txBody>
          <a:bodyPr wrap="square" lIns="0" tIns="0" rIns="0" bIns="0" rtlCol="0" anchor="ctr"/>
          <a:lstStyle/>
          <a:p>
            <a:pPr marL="0" indent="0">
              <a:lnSpc>
                <a:spcPct val="120000"/>
              </a:lnSpc>
              <a:buNone/>
            </a:pPr>
            <a:r>
              <a:rPr lang="en-US" sz="1150" dirty="0">
                <a:solidFill>
                  <a:srgbClr val="5B6470"/>
                </a:solidFill>
                <a:latin typeface="Calibri" pitchFamily="34" charset="0"/>
                <a:ea typeface="Calibri" pitchFamily="34" charset="-122"/>
                <a:cs typeface="Calibri" pitchFamily="34" charset="-120"/>
              </a:rPr>
              <a:t>Intervention pédagogique et validation des hypothèses</a:t>
            </a:r>
            <a:endParaRPr lang="en-US" sz="1150" dirty="0"/>
          </a:p>
        </p:txBody>
      </p:sp>
      <p:sp>
        <p:nvSpPr>
          <p:cNvPr id="26" name="Shape 24"/>
          <p:cNvSpPr/>
          <p:nvPr/>
        </p:nvSpPr>
        <p:spPr>
          <a:xfrm>
            <a:off x="6172200" y="6492240"/>
            <a:ext cx="5074920" cy="0"/>
          </a:xfrm>
          <a:prstGeom prst="line">
            <a:avLst/>
          </a:prstGeom>
          <a:noFill/>
          <a:ln w="12700">
            <a:solidFill>
              <a:srgbClr val="DCE0E6"/>
            </a:solidFill>
            <a:prstDash val="solid"/>
          </a:ln>
        </p:spPr>
      </p:sp>
      <p:sp>
        <p:nvSpPr>
          <p:cNvPr id="27" name="Text 25"/>
          <p:cNvSpPr/>
          <p:nvPr/>
        </p:nvSpPr>
        <p:spPr>
          <a:xfrm>
            <a:off x="6172200" y="5148072"/>
            <a:ext cx="914400" cy="640080"/>
          </a:xfrm>
          <a:prstGeom prst="rect">
            <a:avLst/>
          </a:prstGeom>
          <a:noFill/>
          <a:ln/>
        </p:spPr>
        <p:txBody>
          <a:bodyPr wrap="square" lIns="0" tIns="0" rIns="0" bIns="0" rtlCol="0" anchor="ctr"/>
          <a:lstStyle/>
          <a:p>
            <a:pPr marL="0" indent="0">
              <a:buNone/>
            </a:pPr>
            <a:r>
              <a:rPr lang="en-US" sz="3000" b="1" dirty="0">
                <a:solidFill>
                  <a:srgbClr val="DCE0E6"/>
                </a:solidFill>
                <a:latin typeface="Cambria" pitchFamily="34" charset="0"/>
                <a:ea typeface="Cambria" pitchFamily="34" charset="-122"/>
                <a:cs typeface="Cambria" pitchFamily="34" charset="-120"/>
              </a:rPr>
              <a:t>06</a:t>
            </a:r>
            <a:endParaRPr lang="en-US" sz="3000" dirty="0"/>
          </a:p>
        </p:txBody>
      </p:sp>
      <p:sp>
        <p:nvSpPr>
          <p:cNvPr id="28" name="Text 26"/>
          <p:cNvSpPr/>
          <p:nvPr/>
        </p:nvSpPr>
        <p:spPr>
          <a:xfrm>
            <a:off x="7086600" y="5184648"/>
            <a:ext cx="4160520" cy="411480"/>
          </a:xfrm>
          <a:prstGeom prst="rect">
            <a:avLst/>
          </a:prstGeom>
          <a:noFill/>
          <a:ln/>
        </p:spPr>
        <p:txBody>
          <a:bodyPr wrap="square" lIns="0" tIns="0" rIns="0" bIns="0" rtlCol="0" anchor="ctr"/>
          <a:lstStyle/>
          <a:p>
            <a:pPr marL="0" indent="0">
              <a:buNone/>
            </a:pPr>
            <a:r>
              <a:rPr lang="en-US" sz="1600" b="1" dirty="0">
                <a:solidFill>
                  <a:srgbClr val="16203A"/>
                </a:solidFill>
                <a:latin typeface="Calibri" pitchFamily="34" charset="0"/>
                <a:ea typeface="Calibri" pitchFamily="34" charset="-122"/>
                <a:cs typeface="Calibri" pitchFamily="34" charset="-120"/>
              </a:rPr>
              <a:t>Solutions &amp; conclusion</a:t>
            </a:r>
            <a:endParaRPr lang="en-US" sz="1600" dirty="0"/>
          </a:p>
        </p:txBody>
      </p:sp>
      <p:sp>
        <p:nvSpPr>
          <p:cNvPr id="29" name="Text 27"/>
          <p:cNvSpPr/>
          <p:nvPr/>
        </p:nvSpPr>
        <p:spPr>
          <a:xfrm>
            <a:off x="7086600" y="5605272"/>
            <a:ext cx="4160520" cy="548640"/>
          </a:xfrm>
          <a:prstGeom prst="rect">
            <a:avLst/>
          </a:prstGeom>
          <a:noFill/>
          <a:ln/>
        </p:spPr>
        <p:txBody>
          <a:bodyPr wrap="square" lIns="0" tIns="0" rIns="0" bIns="0" rtlCol="0" anchor="ctr"/>
          <a:lstStyle/>
          <a:p>
            <a:pPr marL="0" indent="0">
              <a:lnSpc>
                <a:spcPct val="120000"/>
              </a:lnSpc>
              <a:buNone/>
            </a:pPr>
            <a:r>
              <a:rPr lang="en-US" sz="1150" dirty="0">
                <a:solidFill>
                  <a:srgbClr val="5B6470"/>
                </a:solidFill>
                <a:latin typeface="Calibri" pitchFamily="34" charset="0"/>
                <a:ea typeface="Calibri" pitchFamily="34" charset="-122"/>
                <a:cs typeface="Calibri" pitchFamily="34" charset="-120"/>
              </a:rPr>
              <a:t>Pistes pédagogiques et synthèse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292608"/>
          </a:xfrm>
          <a:prstGeom prst="rect">
            <a:avLst/>
          </a:prstGeom>
          <a:noFill/>
          <a:ln/>
        </p:spPr>
        <p:txBody>
          <a:bodyPr wrap="square" lIns="0" tIns="0" rIns="0" bIns="0" rtlCol="0" anchor="ctr"/>
          <a:lstStyle/>
          <a:p>
            <a:pPr marL="0" indent="0">
              <a:buNone/>
            </a:pPr>
            <a:r>
              <a:rPr lang="en-US" sz="1150" b="1" kern="0" spc="220" dirty="0">
                <a:solidFill>
                  <a:srgbClr val="1E2A45"/>
                </a:solidFill>
                <a:latin typeface="Calibri" pitchFamily="34" charset="0"/>
                <a:ea typeface="Calibri" pitchFamily="34" charset="-122"/>
                <a:cs typeface="Calibri" pitchFamily="34" charset="-120"/>
              </a:rPr>
              <a:t>01 — INTRODUCTION</a:t>
            </a:r>
            <a:endParaRPr lang="en-US" sz="1150" dirty="0"/>
          </a:p>
        </p:txBody>
      </p:sp>
      <p:sp>
        <p:nvSpPr>
          <p:cNvPr id="3" name="Text 1"/>
          <p:cNvSpPr/>
          <p:nvPr/>
        </p:nvSpPr>
        <p:spPr>
          <a:xfrm>
            <a:off x="640080" y="713232"/>
            <a:ext cx="10607040" cy="640080"/>
          </a:xfrm>
          <a:prstGeom prst="rect">
            <a:avLst/>
          </a:prstGeom>
          <a:noFill/>
          <a:ln/>
        </p:spPr>
        <p:txBody>
          <a:bodyPr wrap="square" lIns="0" tIns="0" rIns="0" bIns="0" rtlCol="0" anchor="ctr"/>
          <a:lstStyle/>
          <a:p>
            <a:pPr marL="0" indent="0">
              <a:buNone/>
            </a:pPr>
            <a:r>
              <a:rPr lang="en-US" sz="3000" b="1" dirty="0">
                <a:solidFill>
                  <a:srgbClr val="16203A"/>
                </a:solidFill>
                <a:latin typeface="Cambria" pitchFamily="34" charset="0"/>
                <a:ea typeface="Cambria" pitchFamily="34" charset="-122"/>
                <a:cs typeface="Cambria" pitchFamily="34" charset="-120"/>
              </a:rPr>
              <a:t>Contexte et problématique</a:t>
            </a:r>
            <a:endParaRPr lang="en-US" sz="3000" dirty="0"/>
          </a:p>
        </p:txBody>
      </p:sp>
      <p:sp>
        <p:nvSpPr>
          <p:cNvPr id="4" name="Text 2"/>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900" dirty="0">
                <a:solidFill>
                  <a:srgbClr val="8A92A0"/>
                </a:solidFill>
                <a:latin typeface="Calibri" pitchFamily="34" charset="0"/>
                <a:ea typeface="Calibri" pitchFamily="34" charset="-122"/>
                <a:cs typeface="Calibri" pitchFamily="34" charset="-120"/>
              </a:rPr>
              <a:t>03 / 13</a:t>
            </a:r>
            <a:endParaRPr lang="en-US" sz="900" dirty="0"/>
          </a:p>
        </p:txBody>
      </p:sp>
      <p:sp>
        <p:nvSpPr>
          <p:cNvPr id="5" name="Text 3"/>
          <p:cNvSpPr/>
          <p:nvPr/>
        </p:nvSpPr>
        <p:spPr>
          <a:xfrm>
            <a:off x="640080" y="6446520"/>
            <a:ext cx="6400800" cy="274320"/>
          </a:xfrm>
          <a:prstGeom prst="rect">
            <a:avLst/>
          </a:prstGeom>
          <a:noFill/>
          <a:ln/>
        </p:spPr>
        <p:txBody>
          <a:bodyPr wrap="square" lIns="0" tIns="0" rIns="0" bIns="0" rtlCol="0" anchor="ctr"/>
          <a:lstStyle/>
          <a:p>
            <a:pPr marL="0" indent="0">
              <a:buNone/>
            </a:pPr>
            <a:r>
              <a:rPr lang="en-US" sz="900" kern="0" spc="100" dirty="0">
                <a:solidFill>
                  <a:srgbClr val="8A92A0"/>
                </a:solidFill>
                <a:latin typeface="Calibri" pitchFamily="34" charset="0"/>
                <a:ea typeface="Calibri" pitchFamily="34" charset="-122"/>
                <a:cs typeface="Calibri" pitchFamily="34" charset="-120"/>
              </a:rPr>
              <a:t>PROJET PERSONNEL ENCADRÉ  •  CRMEF CASABLANCA-SETTAT</a:t>
            </a:r>
            <a:endParaRPr lang="en-US" sz="900" dirty="0"/>
          </a:p>
        </p:txBody>
      </p:sp>
      <p:sp>
        <p:nvSpPr>
          <p:cNvPr id="6" name="Text 4"/>
          <p:cNvSpPr/>
          <p:nvPr/>
        </p:nvSpPr>
        <p:spPr>
          <a:xfrm>
            <a:off x="640080" y="1691640"/>
            <a:ext cx="6217920" cy="1554480"/>
          </a:xfrm>
          <a:prstGeom prst="rect">
            <a:avLst/>
          </a:prstGeom>
          <a:noFill/>
          <a:ln/>
        </p:spPr>
        <p:txBody>
          <a:bodyPr wrap="square" lIns="0" tIns="0" rIns="0" bIns="0" rtlCol="0" anchor="ctr"/>
          <a:lstStyle/>
          <a:p>
            <a:pPr marL="0" indent="0">
              <a:lnSpc>
                <a:spcPct val="135000"/>
              </a:lnSpc>
              <a:buNone/>
            </a:pPr>
            <a:r>
              <a:rPr lang="en-US" sz="1350" dirty="0">
                <a:solidFill>
                  <a:srgbClr val="5B6470"/>
                </a:solidFill>
                <a:latin typeface="Calibri" pitchFamily="34" charset="0"/>
                <a:ea typeface="Calibri" pitchFamily="34" charset="-122"/>
                <a:cs typeface="Calibri" pitchFamily="34" charset="-120"/>
              </a:rPr>
              <a:t>À l'ère du numérique, les réseaux sociaux occupent une place centrale dans la vie des adolescents. Leur usage massif soulève des interrogations pédagogiques majeures dans le contexte scolaire marocain, en particulier sur la concentration et les performances des élèves.</a:t>
            </a:r>
            <a:endParaRPr lang="en-US" sz="1350" dirty="0"/>
          </a:p>
        </p:txBody>
      </p:sp>
      <p:sp>
        <p:nvSpPr>
          <p:cNvPr id="7" name="Shape 5"/>
          <p:cNvSpPr/>
          <p:nvPr/>
        </p:nvSpPr>
        <p:spPr>
          <a:xfrm>
            <a:off x="640080" y="3383280"/>
            <a:ext cx="6217920" cy="1783080"/>
          </a:xfrm>
          <a:prstGeom prst="rect">
            <a:avLst/>
          </a:prstGeom>
          <a:solidFill>
            <a:srgbClr val="F7F8FA"/>
          </a:solidFill>
          <a:ln w="12700">
            <a:solidFill>
              <a:srgbClr val="DCE0E6"/>
            </a:solidFill>
            <a:prstDash val="solid"/>
          </a:ln>
        </p:spPr>
      </p:sp>
      <p:pic>
        <p:nvPicPr>
          <p:cNvPr id="8" name="Image 0" descr="icons/search_navy.png"/>
          <p:cNvPicPr>
            <a:picLocks noChangeAspect="1"/>
          </p:cNvPicPr>
          <p:nvPr/>
        </p:nvPicPr>
        <p:blipFill>
          <a:blip r:embed="rId3"/>
          <a:stretch>
            <a:fillRect/>
          </a:stretch>
        </p:blipFill>
        <p:spPr>
          <a:xfrm>
            <a:off x="914400" y="3639312"/>
            <a:ext cx="384048" cy="384048"/>
          </a:xfrm>
          <a:prstGeom prst="rect">
            <a:avLst/>
          </a:prstGeom>
        </p:spPr>
      </p:pic>
      <p:sp>
        <p:nvSpPr>
          <p:cNvPr id="9" name="Text 6"/>
          <p:cNvSpPr/>
          <p:nvPr/>
        </p:nvSpPr>
        <p:spPr>
          <a:xfrm>
            <a:off x="1463040" y="3611880"/>
            <a:ext cx="5120640" cy="320040"/>
          </a:xfrm>
          <a:prstGeom prst="rect">
            <a:avLst/>
          </a:prstGeom>
          <a:noFill/>
          <a:ln/>
        </p:spPr>
        <p:txBody>
          <a:bodyPr wrap="square" lIns="0" tIns="0" rIns="0" bIns="0" rtlCol="0" anchor="ctr"/>
          <a:lstStyle/>
          <a:p>
            <a:pPr marL="0" indent="0">
              <a:buNone/>
            </a:pPr>
            <a:r>
              <a:rPr lang="en-US" sz="1150" b="1" kern="0" spc="100" dirty="0">
                <a:solidFill>
                  <a:srgbClr val="1E2A45"/>
                </a:solidFill>
                <a:latin typeface="Calibri" pitchFamily="34" charset="0"/>
                <a:ea typeface="Calibri" pitchFamily="34" charset="-122"/>
                <a:cs typeface="Calibri" pitchFamily="34" charset="-120"/>
              </a:rPr>
              <a:t>Question centrale de recherche</a:t>
            </a:r>
            <a:endParaRPr lang="en-US" sz="1150" dirty="0"/>
          </a:p>
        </p:txBody>
      </p:sp>
      <p:sp>
        <p:nvSpPr>
          <p:cNvPr id="10" name="Text 7"/>
          <p:cNvSpPr/>
          <p:nvPr/>
        </p:nvSpPr>
        <p:spPr>
          <a:xfrm>
            <a:off x="914400" y="4023360"/>
            <a:ext cx="5669280" cy="1005840"/>
          </a:xfrm>
          <a:prstGeom prst="rect">
            <a:avLst/>
          </a:prstGeom>
          <a:noFill/>
          <a:ln/>
        </p:spPr>
        <p:txBody>
          <a:bodyPr wrap="square" lIns="0" tIns="0" rIns="0" bIns="0" rtlCol="0" anchor="ctr"/>
          <a:lstStyle/>
          <a:p>
            <a:pPr marL="0" indent="0">
              <a:lnSpc>
                <a:spcPct val="125000"/>
              </a:lnSpc>
              <a:buNone/>
            </a:pPr>
            <a:r>
              <a:rPr lang="en-US" sz="1600" i="1" dirty="0">
                <a:solidFill>
                  <a:srgbClr val="16203A"/>
                </a:solidFill>
                <a:latin typeface="Cambria" pitchFamily="34" charset="0"/>
                <a:ea typeface="Cambria" pitchFamily="34" charset="-122"/>
                <a:cs typeface="Cambria" pitchFamily="34" charset="-120"/>
              </a:rPr>
              <a:t>Dans quelle mesure l'usage des réseaux sociaux influence-t-il la concentration et les performances scolaires des apprenants ?</a:t>
            </a:r>
            <a:endParaRPr lang="en-US" sz="1600" dirty="0"/>
          </a:p>
        </p:txBody>
      </p:sp>
      <p:sp>
        <p:nvSpPr>
          <p:cNvPr id="11" name="Shape 8"/>
          <p:cNvSpPr/>
          <p:nvPr/>
        </p:nvSpPr>
        <p:spPr>
          <a:xfrm>
            <a:off x="7269480" y="1691640"/>
            <a:ext cx="4251960" cy="1417320"/>
          </a:xfrm>
          <a:prstGeom prst="rect">
            <a:avLst/>
          </a:prstGeom>
          <a:solidFill>
            <a:srgbClr val="FFFFFF"/>
          </a:solidFill>
          <a:ln w="12700">
            <a:solidFill>
              <a:srgbClr val="DCE0E6"/>
            </a:solidFill>
            <a:prstDash val="solid"/>
          </a:ln>
          <a:effectLst>
            <a:outerShdw blurRad="101600" dist="25400" dir="5400000" algn="bl" rotWithShape="0">
              <a:srgbClr val="1E2A45">
                <a:alpha val="6000"/>
              </a:srgbClr>
            </a:outerShdw>
          </a:effectLst>
        </p:spPr>
      </p:sp>
      <p:sp>
        <p:nvSpPr>
          <p:cNvPr id="12" name="Text 9"/>
          <p:cNvSpPr/>
          <p:nvPr/>
        </p:nvSpPr>
        <p:spPr>
          <a:xfrm>
            <a:off x="7589520" y="1856232"/>
            <a:ext cx="3611880" cy="594360"/>
          </a:xfrm>
          <a:prstGeom prst="rect">
            <a:avLst/>
          </a:prstGeom>
          <a:noFill/>
          <a:ln/>
        </p:spPr>
        <p:txBody>
          <a:bodyPr wrap="square" lIns="0" tIns="0" rIns="0" bIns="0" rtlCol="0" anchor="ctr"/>
          <a:lstStyle/>
          <a:p>
            <a:pPr marL="0" indent="0">
              <a:buNone/>
            </a:pPr>
            <a:r>
              <a:rPr lang="en-US" sz="3000" b="1" dirty="0">
                <a:solidFill>
                  <a:srgbClr val="16203A"/>
                </a:solidFill>
                <a:latin typeface="Cambria" pitchFamily="34" charset="0"/>
                <a:ea typeface="Cambria" pitchFamily="34" charset="-122"/>
                <a:cs typeface="Cambria" pitchFamily="34" charset="-120"/>
              </a:rPr>
              <a:t>100%</a:t>
            </a:r>
            <a:endParaRPr lang="en-US" sz="3000" dirty="0"/>
          </a:p>
        </p:txBody>
      </p:sp>
      <p:sp>
        <p:nvSpPr>
          <p:cNvPr id="13" name="Text 10"/>
          <p:cNvSpPr/>
          <p:nvPr/>
        </p:nvSpPr>
        <p:spPr>
          <a:xfrm>
            <a:off x="7589520" y="2468880"/>
            <a:ext cx="3611880" cy="548640"/>
          </a:xfrm>
          <a:prstGeom prst="rect">
            <a:avLst/>
          </a:prstGeom>
          <a:noFill/>
          <a:ln/>
        </p:spPr>
        <p:txBody>
          <a:bodyPr wrap="square" lIns="0" tIns="0" rIns="0" bIns="0" rtlCol="0" anchor="ctr"/>
          <a:lstStyle/>
          <a:p>
            <a:pPr marL="0" indent="0">
              <a:lnSpc>
                <a:spcPct val="120000"/>
              </a:lnSpc>
              <a:buNone/>
            </a:pPr>
            <a:r>
              <a:rPr lang="en-US" sz="1100" dirty="0">
                <a:solidFill>
                  <a:srgbClr val="5B6470"/>
                </a:solidFill>
                <a:latin typeface="Calibri" pitchFamily="34" charset="0"/>
                <a:ea typeface="Calibri" pitchFamily="34" charset="-122"/>
                <a:cs typeface="Calibri" pitchFamily="34" charset="-120"/>
              </a:rPr>
              <a:t>des enseignants confirment l'usage des réseaux sociaux par les élèves</a:t>
            </a:r>
            <a:endParaRPr lang="en-US" sz="1100" dirty="0"/>
          </a:p>
        </p:txBody>
      </p:sp>
      <p:sp>
        <p:nvSpPr>
          <p:cNvPr id="14" name="Shape 11"/>
          <p:cNvSpPr/>
          <p:nvPr/>
        </p:nvSpPr>
        <p:spPr>
          <a:xfrm>
            <a:off x="7269480" y="3291840"/>
            <a:ext cx="4251960" cy="1417320"/>
          </a:xfrm>
          <a:prstGeom prst="rect">
            <a:avLst/>
          </a:prstGeom>
          <a:solidFill>
            <a:srgbClr val="FFFFFF"/>
          </a:solidFill>
          <a:ln w="12700">
            <a:solidFill>
              <a:srgbClr val="DCE0E6"/>
            </a:solidFill>
            <a:prstDash val="solid"/>
          </a:ln>
          <a:effectLst>
            <a:outerShdw blurRad="101600" dist="25400" dir="5400000" algn="bl" rotWithShape="0">
              <a:srgbClr val="1E2A45">
                <a:alpha val="6000"/>
              </a:srgbClr>
            </a:outerShdw>
          </a:effectLst>
        </p:spPr>
      </p:sp>
      <p:sp>
        <p:nvSpPr>
          <p:cNvPr id="15" name="Text 12"/>
          <p:cNvSpPr/>
          <p:nvPr/>
        </p:nvSpPr>
        <p:spPr>
          <a:xfrm>
            <a:off x="7589520" y="3456432"/>
            <a:ext cx="3611880" cy="594360"/>
          </a:xfrm>
          <a:prstGeom prst="rect">
            <a:avLst/>
          </a:prstGeom>
          <a:noFill/>
          <a:ln/>
        </p:spPr>
        <p:txBody>
          <a:bodyPr wrap="square" lIns="0" tIns="0" rIns="0" bIns="0" rtlCol="0" anchor="ctr"/>
          <a:lstStyle/>
          <a:p>
            <a:pPr marL="0" indent="0">
              <a:buNone/>
            </a:pPr>
            <a:r>
              <a:rPr lang="en-US" sz="3000" b="1" dirty="0">
                <a:solidFill>
                  <a:srgbClr val="16203A"/>
                </a:solidFill>
                <a:latin typeface="Cambria" pitchFamily="34" charset="0"/>
                <a:ea typeface="Cambria" pitchFamily="34" charset="-122"/>
                <a:cs typeface="Cambria" pitchFamily="34" charset="-120"/>
              </a:rPr>
              <a:t>TikTok</a:t>
            </a:r>
            <a:endParaRPr lang="en-US" sz="3000" dirty="0"/>
          </a:p>
        </p:txBody>
      </p:sp>
      <p:sp>
        <p:nvSpPr>
          <p:cNvPr id="16" name="Text 13"/>
          <p:cNvSpPr/>
          <p:nvPr/>
        </p:nvSpPr>
        <p:spPr>
          <a:xfrm>
            <a:off x="7589520" y="4069080"/>
            <a:ext cx="3611880" cy="548640"/>
          </a:xfrm>
          <a:prstGeom prst="rect">
            <a:avLst/>
          </a:prstGeom>
          <a:noFill/>
          <a:ln/>
        </p:spPr>
        <p:txBody>
          <a:bodyPr wrap="square" lIns="0" tIns="0" rIns="0" bIns="0" rtlCol="0" anchor="ctr"/>
          <a:lstStyle/>
          <a:p>
            <a:pPr marL="0" indent="0">
              <a:lnSpc>
                <a:spcPct val="120000"/>
              </a:lnSpc>
              <a:buNone/>
            </a:pPr>
            <a:r>
              <a:rPr lang="en-US" sz="1100" dirty="0">
                <a:solidFill>
                  <a:srgbClr val="5B6470"/>
                </a:solidFill>
                <a:latin typeface="Calibri" pitchFamily="34" charset="0"/>
                <a:ea typeface="Calibri" pitchFamily="34" charset="-122"/>
                <a:cs typeface="Calibri" pitchFamily="34" charset="-120"/>
              </a:rPr>
              <a:t>plateforme dominante chez les collégiens marocains</a:t>
            </a:r>
            <a:endParaRPr lang="en-US" sz="1100" dirty="0"/>
          </a:p>
        </p:txBody>
      </p:sp>
      <p:sp>
        <p:nvSpPr>
          <p:cNvPr id="17" name="Shape 14"/>
          <p:cNvSpPr/>
          <p:nvPr/>
        </p:nvSpPr>
        <p:spPr>
          <a:xfrm>
            <a:off x="7269480" y="4892040"/>
            <a:ext cx="4251960" cy="1417320"/>
          </a:xfrm>
          <a:prstGeom prst="rect">
            <a:avLst/>
          </a:prstGeom>
          <a:solidFill>
            <a:srgbClr val="FFFFFF"/>
          </a:solidFill>
          <a:ln w="12700">
            <a:solidFill>
              <a:srgbClr val="DCE0E6"/>
            </a:solidFill>
            <a:prstDash val="solid"/>
          </a:ln>
          <a:effectLst>
            <a:outerShdw blurRad="101600" dist="25400" dir="5400000" algn="bl" rotWithShape="0">
              <a:srgbClr val="1E2A45">
                <a:alpha val="6000"/>
              </a:srgbClr>
            </a:outerShdw>
          </a:effectLst>
        </p:spPr>
      </p:sp>
      <p:sp>
        <p:nvSpPr>
          <p:cNvPr id="18" name="Text 15"/>
          <p:cNvSpPr/>
          <p:nvPr/>
        </p:nvSpPr>
        <p:spPr>
          <a:xfrm>
            <a:off x="7589520" y="5056632"/>
            <a:ext cx="3611880" cy="594360"/>
          </a:xfrm>
          <a:prstGeom prst="rect">
            <a:avLst/>
          </a:prstGeom>
          <a:noFill/>
          <a:ln/>
        </p:spPr>
        <p:txBody>
          <a:bodyPr wrap="square" lIns="0" tIns="0" rIns="0" bIns="0" rtlCol="0" anchor="ctr"/>
          <a:lstStyle/>
          <a:p>
            <a:pPr marL="0" indent="0">
              <a:buNone/>
            </a:pPr>
            <a:r>
              <a:rPr lang="en-US" sz="3000" b="1" dirty="0">
                <a:solidFill>
                  <a:srgbClr val="16203A"/>
                </a:solidFill>
                <a:latin typeface="Cambria" pitchFamily="34" charset="0"/>
                <a:ea typeface="Cambria" pitchFamily="34" charset="-122"/>
                <a:cs typeface="Cambria" pitchFamily="34" charset="-120"/>
              </a:rPr>
              <a:t>2020–2024</a:t>
            </a:r>
            <a:endParaRPr lang="en-US" sz="3000" dirty="0"/>
          </a:p>
        </p:txBody>
      </p:sp>
      <p:sp>
        <p:nvSpPr>
          <p:cNvPr id="19" name="Text 16"/>
          <p:cNvSpPr/>
          <p:nvPr/>
        </p:nvSpPr>
        <p:spPr>
          <a:xfrm>
            <a:off x="7589520" y="5669280"/>
            <a:ext cx="3611880" cy="548640"/>
          </a:xfrm>
          <a:prstGeom prst="rect">
            <a:avLst/>
          </a:prstGeom>
          <a:noFill/>
          <a:ln/>
        </p:spPr>
        <p:txBody>
          <a:bodyPr wrap="square" lIns="0" tIns="0" rIns="0" bIns="0" rtlCol="0" anchor="ctr"/>
          <a:lstStyle/>
          <a:p>
            <a:pPr marL="0" indent="0">
              <a:lnSpc>
                <a:spcPct val="120000"/>
              </a:lnSpc>
              <a:buNone/>
            </a:pPr>
            <a:r>
              <a:rPr lang="en-US" sz="1100" dirty="0">
                <a:solidFill>
                  <a:srgbClr val="5B6470"/>
                </a:solidFill>
                <a:latin typeface="Calibri" pitchFamily="34" charset="0"/>
                <a:ea typeface="Calibri" pitchFamily="34" charset="-122"/>
                <a:cs typeface="Calibri" pitchFamily="34" charset="-120"/>
              </a:rPr>
              <a:t>période d'observation de terrain durant le stage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292608"/>
          </a:xfrm>
          <a:prstGeom prst="rect">
            <a:avLst/>
          </a:prstGeom>
          <a:noFill/>
          <a:ln/>
        </p:spPr>
        <p:txBody>
          <a:bodyPr wrap="square" lIns="0" tIns="0" rIns="0" bIns="0" rtlCol="0" anchor="ctr"/>
          <a:lstStyle/>
          <a:p>
            <a:pPr marL="0" indent="0">
              <a:buNone/>
            </a:pPr>
            <a:r>
              <a:rPr lang="en-US" sz="1150" b="1" kern="0" spc="220" dirty="0">
                <a:solidFill>
                  <a:srgbClr val="1E2A45"/>
                </a:solidFill>
                <a:latin typeface="Calibri" pitchFamily="34" charset="0"/>
                <a:ea typeface="Calibri" pitchFamily="34" charset="-122"/>
                <a:cs typeface="Calibri" pitchFamily="34" charset="-120"/>
              </a:rPr>
              <a:t>01 — INTRODUCTION</a:t>
            </a:r>
            <a:endParaRPr lang="en-US" sz="1150" dirty="0"/>
          </a:p>
        </p:txBody>
      </p:sp>
      <p:sp>
        <p:nvSpPr>
          <p:cNvPr id="3" name="Text 1"/>
          <p:cNvSpPr/>
          <p:nvPr/>
        </p:nvSpPr>
        <p:spPr>
          <a:xfrm>
            <a:off x="640080" y="713232"/>
            <a:ext cx="10607040" cy="640080"/>
          </a:xfrm>
          <a:prstGeom prst="rect">
            <a:avLst/>
          </a:prstGeom>
          <a:noFill/>
          <a:ln/>
        </p:spPr>
        <p:txBody>
          <a:bodyPr wrap="square" lIns="0" tIns="0" rIns="0" bIns="0" rtlCol="0" anchor="ctr"/>
          <a:lstStyle/>
          <a:p>
            <a:pPr marL="0" indent="0">
              <a:buNone/>
            </a:pPr>
            <a:r>
              <a:rPr lang="en-US" sz="3000" b="1" dirty="0">
                <a:solidFill>
                  <a:srgbClr val="16203A"/>
                </a:solidFill>
                <a:latin typeface="Cambria" pitchFamily="34" charset="0"/>
                <a:ea typeface="Cambria" pitchFamily="34" charset="-122"/>
                <a:cs typeface="Cambria" pitchFamily="34" charset="-120"/>
              </a:rPr>
              <a:t>Hypothèses et objectifs de recherche</a:t>
            </a:r>
            <a:endParaRPr lang="en-US" sz="3000" dirty="0"/>
          </a:p>
        </p:txBody>
      </p:sp>
      <p:sp>
        <p:nvSpPr>
          <p:cNvPr id="4" name="Text 2"/>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900" dirty="0">
                <a:solidFill>
                  <a:srgbClr val="8A92A0"/>
                </a:solidFill>
                <a:latin typeface="Calibri" pitchFamily="34" charset="0"/>
                <a:ea typeface="Calibri" pitchFamily="34" charset="-122"/>
                <a:cs typeface="Calibri" pitchFamily="34" charset="-120"/>
              </a:rPr>
              <a:t>04 / 13</a:t>
            </a:r>
            <a:endParaRPr lang="en-US" sz="900" dirty="0"/>
          </a:p>
        </p:txBody>
      </p:sp>
      <p:sp>
        <p:nvSpPr>
          <p:cNvPr id="5" name="Text 3"/>
          <p:cNvSpPr/>
          <p:nvPr/>
        </p:nvSpPr>
        <p:spPr>
          <a:xfrm>
            <a:off x="640080" y="6446520"/>
            <a:ext cx="6400800" cy="274320"/>
          </a:xfrm>
          <a:prstGeom prst="rect">
            <a:avLst/>
          </a:prstGeom>
          <a:noFill/>
          <a:ln/>
        </p:spPr>
        <p:txBody>
          <a:bodyPr wrap="square" lIns="0" tIns="0" rIns="0" bIns="0" rtlCol="0" anchor="ctr"/>
          <a:lstStyle/>
          <a:p>
            <a:pPr marL="0" indent="0">
              <a:buNone/>
            </a:pPr>
            <a:r>
              <a:rPr lang="en-US" sz="900" kern="0" spc="100" dirty="0">
                <a:solidFill>
                  <a:srgbClr val="8A92A0"/>
                </a:solidFill>
                <a:latin typeface="Calibri" pitchFamily="34" charset="0"/>
                <a:ea typeface="Calibri" pitchFamily="34" charset="-122"/>
                <a:cs typeface="Calibri" pitchFamily="34" charset="-120"/>
              </a:rPr>
              <a:t>PROJET PERSONNEL ENCADRÉ  •  CRMEF CASABLANCA-SETTAT</a:t>
            </a:r>
            <a:endParaRPr lang="en-US" sz="900" dirty="0"/>
          </a:p>
        </p:txBody>
      </p:sp>
      <p:sp>
        <p:nvSpPr>
          <p:cNvPr id="6" name="Shape 4"/>
          <p:cNvSpPr/>
          <p:nvPr/>
        </p:nvSpPr>
        <p:spPr>
          <a:xfrm>
            <a:off x="640080" y="2368296"/>
            <a:ext cx="7315200" cy="0"/>
          </a:xfrm>
          <a:prstGeom prst="line">
            <a:avLst/>
          </a:prstGeom>
          <a:noFill/>
          <a:ln w="12700">
            <a:solidFill>
              <a:srgbClr val="DCE0E6"/>
            </a:solidFill>
            <a:prstDash val="solid"/>
          </a:ln>
        </p:spPr>
      </p:sp>
      <p:sp>
        <p:nvSpPr>
          <p:cNvPr id="7" name="Shape 5"/>
          <p:cNvSpPr/>
          <p:nvPr/>
        </p:nvSpPr>
        <p:spPr>
          <a:xfrm>
            <a:off x="640080" y="1691640"/>
            <a:ext cx="502920" cy="502920"/>
          </a:xfrm>
          <a:prstGeom prst="ellipse">
            <a:avLst/>
          </a:prstGeom>
          <a:solidFill>
            <a:srgbClr val="1E2A45"/>
          </a:solidFill>
          <a:ln/>
        </p:spPr>
      </p:sp>
      <p:sp>
        <p:nvSpPr>
          <p:cNvPr id="8" name="Text 6"/>
          <p:cNvSpPr/>
          <p:nvPr/>
        </p:nvSpPr>
        <p:spPr>
          <a:xfrm>
            <a:off x="640080" y="1691640"/>
            <a:ext cx="50292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H1</a:t>
            </a:r>
            <a:endParaRPr lang="en-US" sz="1250" dirty="0"/>
          </a:p>
        </p:txBody>
      </p:sp>
      <p:sp>
        <p:nvSpPr>
          <p:cNvPr id="9" name="Text 7"/>
          <p:cNvSpPr/>
          <p:nvPr/>
        </p:nvSpPr>
        <p:spPr>
          <a:xfrm>
            <a:off x="1417320" y="1655064"/>
            <a:ext cx="6537960" cy="594360"/>
          </a:xfrm>
          <a:prstGeom prst="rect">
            <a:avLst/>
          </a:prstGeom>
          <a:noFill/>
          <a:ln/>
        </p:spPr>
        <p:txBody>
          <a:bodyPr wrap="square" lIns="0" tIns="0" rIns="0" bIns="0" rtlCol="0" anchor="ctr"/>
          <a:lstStyle/>
          <a:p>
            <a:pPr marL="0" indent="0">
              <a:lnSpc>
                <a:spcPct val="115000"/>
              </a:lnSpc>
              <a:buNone/>
            </a:pPr>
            <a:r>
              <a:rPr lang="en-US" sz="1300" dirty="0">
                <a:solidFill>
                  <a:srgbClr val="16203A"/>
                </a:solidFill>
                <a:latin typeface="Calibri" pitchFamily="34" charset="0"/>
                <a:ea typeface="Calibri" pitchFamily="34" charset="-122"/>
                <a:cs typeface="Calibri" pitchFamily="34" charset="-120"/>
              </a:rPr>
              <a:t>L'utilisation intensive des réseaux sociaux réduit la capacité de concentration des apprenants.</a:t>
            </a:r>
            <a:endParaRPr lang="en-US" sz="1300" dirty="0"/>
          </a:p>
        </p:txBody>
      </p:sp>
      <p:sp>
        <p:nvSpPr>
          <p:cNvPr id="10" name="Shape 8"/>
          <p:cNvSpPr/>
          <p:nvPr/>
        </p:nvSpPr>
        <p:spPr>
          <a:xfrm>
            <a:off x="640080" y="3209544"/>
            <a:ext cx="7315200" cy="0"/>
          </a:xfrm>
          <a:prstGeom prst="line">
            <a:avLst/>
          </a:prstGeom>
          <a:noFill/>
          <a:ln w="12700">
            <a:solidFill>
              <a:srgbClr val="DCE0E6"/>
            </a:solidFill>
            <a:prstDash val="solid"/>
          </a:ln>
        </p:spPr>
      </p:sp>
      <p:sp>
        <p:nvSpPr>
          <p:cNvPr id="11" name="Shape 9"/>
          <p:cNvSpPr/>
          <p:nvPr/>
        </p:nvSpPr>
        <p:spPr>
          <a:xfrm>
            <a:off x="640080" y="2532888"/>
            <a:ext cx="502920" cy="502920"/>
          </a:xfrm>
          <a:prstGeom prst="ellipse">
            <a:avLst/>
          </a:prstGeom>
          <a:solidFill>
            <a:srgbClr val="1E2A45"/>
          </a:solidFill>
          <a:ln/>
        </p:spPr>
      </p:sp>
      <p:sp>
        <p:nvSpPr>
          <p:cNvPr id="12" name="Text 10"/>
          <p:cNvSpPr/>
          <p:nvPr/>
        </p:nvSpPr>
        <p:spPr>
          <a:xfrm>
            <a:off x="640080" y="2532888"/>
            <a:ext cx="50292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H2</a:t>
            </a:r>
            <a:endParaRPr lang="en-US" sz="1250" dirty="0"/>
          </a:p>
        </p:txBody>
      </p:sp>
      <p:sp>
        <p:nvSpPr>
          <p:cNvPr id="13" name="Text 11"/>
          <p:cNvSpPr/>
          <p:nvPr/>
        </p:nvSpPr>
        <p:spPr>
          <a:xfrm>
            <a:off x="1417320" y="2496312"/>
            <a:ext cx="6537960" cy="594360"/>
          </a:xfrm>
          <a:prstGeom prst="rect">
            <a:avLst/>
          </a:prstGeom>
          <a:noFill/>
          <a:ln/>
        </p:spPr>
        <p:txBody>
          <a:bodyPr wrap="square" lIns="0" tIns="0" rIns="0" bIns="0" rtlCol="0" anchor="ctr"/>
          <a:lstStyle/>
          <a:p>
            <a:pPr marL="0" indent="0">
              <a:lnSpc>
                <a:spcPct val="115000"/>
              </a:lnSpc>
              <a:buNone/>
            </a:pPr>
            <a:r>
              <a:rPr lang="en-US" sz="1300" dirty="0">
                <a:solidFill>
                  <a:srgbClr val="16203A"/>
                </a:solidFill>
                <a:latin typeface="Calibri" pitchFamily="34" charset="0"/>
                <a:ea typeface="Calibri" pitchFamily="34" charset="-122"/>
                <a:cs typeface="Calibri" pitchFamily="34" charset="-120"/>
              </a:rPr>
              <a:t>TikTok constitue la plateforme la plus distrayante en milieu scolaire.</a:t>
            </a:r>
            <a:endParaRPr lang="en-US" sz="1300" dirty="0"/>
          </a:p>
        </p:txBody>
      </p:sp>
      <p:sp>
        <p:nvSpPr>
          <p:cNvPr id="14" name="Shape 12"/>
          <p:cNvSpPr/>
          <p:nvPr/>
        </p:nvSpPr>
        <p:spPr>
          <a:xfrm>
            <a:off x="640080" y="4050792"/>
            <a:ext cx="7315200" cy="0"/>
          </a:xfrm>
          <a:prstGeom prst="line">
            <a:avLst/>
          </a:prstGeom>
          <a:noFill/>
          <a:ln w="12700">
            <a:solidFill>
              <a:srgbClr val="DCE0E6"/>
            </a:solidFill>
            <a:prstDash val="solid"/>
          </a:ln>
        </p:spPr>
      </p:sp>
      <p:sp>
        <p:nvSpPr>
          <p:cNvPr id="15" name="Shape 13"/>
          <p:cNvSpPr/>
          <p:nvPr/>
        </p:nvSpPr>
        <p:spPr>
          <a:xfrm>
            <a:off x="640080" y="3374136"/>
            <a:ext cx="502920" cy="502920"/>
          </a:xfrm>
          <a:prstGeom prst="ellipse">
            <a:avLst/>
          </a:prstGeom>
          <a:solidFill>
            <a:srgbClr val="1E2A45"/>
          </a:solidFill>
          <a:ln/>
        </p:spPr>
      </p:sp>
      <p:sp>
        <p:nvSpPr>
          <p:cNvPr id="16" name="Text 14"/>
          <p:cNvSpPr/>
          <p:nvPr/>
        </p:nvSpPr>
        <p:spPr>
          <a:xfrm>
            <a:off x="640080" y="3374136"/>
            <a:ext cx="50292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H3</a:t>
            </a:r>
            <a:endParaRPr lang="en-US" sz="1250" dirty="0"/>
          </a:p>
        </p:txBody>
      </p:sp>
      <p:sp>
        <p:nvSpPr>
          <p:cNvPr id="17" name="Text 15"/>
          <p:cNvSpPr/>
          <p:nvPr/>
        </p:nvSpPr>
        <p:spPr>
          <a:xfrm>
            <a:off x="1417320" y="3337560"/>
            <a:ext cx="6537960" cy="594360"/>
          </a:xfrm>
          <a:prstGeom prst="rect">
            <a:avLst/>
          </a:prstGeom>
          <a:noFill/>
          <a:ln/>
        </p:spPr>
        <p:txBody>
          <a:bodyPr wrap="square" lIns="0" tIns="0" rIns="0" bIns="0" rtlCol="0" anchor="ctr"/>
          <a:lstStyle/>
          <a:p>
            <a:pPr marL="0" indent="0">
              <a:lnSpc>
                <a:spcPct val="115000"/>
              </a:lnSpc>
              <a:buNone/>
            </a:pPr>
            <a:r>
              <a:rPr lang="en-US" sz="1300" dirty="0">
                <a:solidFill>
                  <a:srgbClr val="16203A"/>
                </a:solidFill>
                <a:latin typeface="Calibri" pitchFamily="34" charset="0"/>
                <a:ea typeface="Calibri" pitchFamily="34" charset="-122"/>
                <a:cs typeface="Calibri" pitchFamily="34" charset="-120"/>
              </a:rPr>
              <a:t>Le temps d'exposition quotidien aux réseaux sociaux influence négativement les résultats scolaires.</a:t>
            </a:r>
            <a:endParaRPr lang="en-US" sz="1300" dirty="0"/>
          </a:p>
        </p:txBody>
      </p:sp>
      <p:sp>
        <p:nvSpPr>
          <p:cNvPr id="18" name="Shape 16"/>
          <p:cNvSpPr/>
          <p:nvPr/>
        </p:nvSpPr>
        <p:spPr>
          <a:xfrm>
            <a:off x="640080" y="4892040"/>
            <a:ext cx="7315200" cy="0"/>
          </a:xfrm>
          <a:prstGeom prst="line">
            <a:avLst/>
          </a:prstGeom>
          <a:noFill/>
          <a:ln w="12700">
            <a:solidFill>
              <a:srgbClr val="DCE0E6"/>
            </a:solidFill>
            <a:prstDash val="solid"/>
          </a:ln>
        </p:spPr>
      </p:sp>
      <p:sp>
        <p:nvSpPr>
          <p:cNvPr id="19" name="Shape 17"/>
          <p:cNvSpPr/>
          <p:nvPr/>
        </p:nvSpPr>
        <p:spPr>
          <a:xfrm>
            <a:off x="640080" y="4215384"/>
            <a:ext cx="502920" cy="502920"/>
          </a:xfrm>
          <a:prstGeom prst="ellipse">
            <a:avLst/>
          </a:prstGeom>
          <a:solidFill>
            <a:srgbClr val="1E2A45"/>
          </a:solidFill>
          <a:ln/>
        </p:spPr>
      </p:sp>
      <p:sp>
        <p:nvSpPr>
          <p:cNvPr id="20" name="Text 18"/>
          <p:cNvSpPr/>
          <p:nvPr/>
        </p:nvSpPr>
        <p:spPr>
          <a:xfrm>
            <a:off x="640080" y="4215384"/>
            <a:ext cx="50292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H4</a:t>
            </a:r>
            <a:endParaRPr lang="en-US" sz="1250" dirty="0"/>
          </a:p>
        </p:txBody>
      </p:sp>
      <p:sp>
        <p:nvSpPr>
          <p:cNvPr id="21" name="Text 19"/>
          <p:cNvSpPr/>
          <p:nvPr/>
        </p:nvSpPr>
        <p:spPr>
          <a:xfrm>
            <a:off x="1417320" y="4178808"/>
            <a:ext cx="6537960" cy="594360"/>
          </a:xfrm>
          <a:prstGeom prst="rect">
            <a:avLst/>
          </a:prstGeom>
          <a:noFill/>
          <a:ln/>
        </p:spPr>
        <p:txBody>
          <a:bodyPr wrap="square" lIns="0" tIns="0" rIns="0" bIns="0" rtlCol="0" anchor="ctr"/>
          <a:lstStyle/>
          <a:p>
            <a:pPr marL="0" indent="0">
              <a:lnSpc>
                <a:spcPct val="115000"/>
              </a:lnSpc>
              <a:buNone/>
            </a:pPr>
            <a:r>
              <a:rPr lang="en-US" sz="1300" dirty="0">
                <a:solidFill>
                  <a:srgbClr val="16203A"/>
                </a:solidFill>
                <a:latin typeface="Calibri" pitchFamily="34" charset="0"/>
                <a:ea typeface="Calibri" pitchFamily="34" charset="-122"/>
                <a:cs typeface="Calibri" pitchFamily="34" charset="-120"/>
              </a:rPr>
              <a:t>Les approches pédagogiques interactives permettent d'améliorer la concentration en classe.</a:t>
            </a:r>
            <a:endParaRPr lang="en-US" sz="1300" dirty="0"/>
          </a:p>
        </p:txBody>
      </p:sp>
      <p:sp>
        <p:nvSpPr>
          <p:cNvPr id="22" name="Shape 20"/>
          <p:cNvSpPr/>
          <p:nvPr/>
        </p:nvSpPr>
        <p:spPr>
          <a:xfrm>
            <a:off x="640080" y="5733288"/>
            <a:ext cx="7315200" cy="0"/>
          </a:xfrm>
          <a:prstGeom prst="line">
            <a:avLst/>
          </a:prstGeom>
          <a:noFill/>
          <a:ln w="12700">
            <a:solidFill>
              <a:srgbClr val="DCE0E6"/>
            </a:solidFill>
            <a:prstDash val="solid"/>
          </a:ln>
        </p:spPr>
      </p:sp>
      <p:sp>
        <p:nvSpPr>
          <p:cNvPr id="23" name="Shape 21"/>
          <p:cNvSpPr/>
          <p:nvPr/>
        </p:nvSpPr>
        <p:spPr>
          <a:xfrm>
            <a:off x="640080" y="5056632"/>
            <a:ext cx="502920" cy="502920"/>
          </a:xfrm>
          <a:prstGeom prst="ellipse">
            <a:avLst/>
          </a:prstGeom>
          <a:solidFill>
            <a:srgbClr val="1E2A45"/>
          </a:solidFill>
          <a:ln/>
        </p:spPr>
      </p:sp>
      <p:sp>
        <p:nvSpPr>
          <p:cNvPr id="24" name="Text 22"/>
          <p:cNvSpPr/>
          <p:nvPr/>
        </p:nvSpPr>
        <p:spPr>
          <a:xfrm>
            <a:off x="640080" y="5056632"/>
            <a:ext cx="502920"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H5</a:t>
            </a:r>
            <a:endParaRPr lang="en-US" sz="1250" dirty="0"/>
          </a:p>
        </p:txBody>
      </p:sp>
      <p:sp>
        <p:nvSpPr>
          <p:cNvPr id="25" name="Text 23"/>
          <p:cNvSpPr/>
          <p:nvPr/>
        </p:nvSpPr>
        <p:spPr>
          <a:xfrm>
            <a:off x="1417320" y="5020056"/>
            <a:ext cx="6537960" cy="594360"/>
          </a:xfrm>
          <a:prstGeom prst="rect">
            <a:avLst/>
          </a:prstGeom>
          <a:noFill/>
          <a:ln/>
        </p:spPr>
        <p:txBody>
          <a:bodyPr wrap="square" lIns="0" tIns="0" rIns="0" bIns="0" rtlCol="0" anchor="ctr"/>
          <a:lstStyle/>
          <a:p>
            <a:pPr marL="0" indent="0">
              <a:lnSpc>
                <a:spcPct val="115000"/>
              </a:lnSpc>
              <a:buNone/>
            </a:pPr>
            <a:r>
              <a:rPr lang="en-US" sz="1300" dirty="0">
                <a:solidFill>
                  <a:srgbClr val="16203A"/>
                </a:solidFill>
                <a:latin typeface="Calibri" pitchFamily="34" charset="0"/>
                <a:ea typeface="Calibri" pitchFamily="34" charset="-122"/>
                <a:cs typeface="Calibri" pitchFamily="34" charset="-120"/>
              </a:rPr>
              <a:t>La sensibilisation à l'usage responsable des réseaux sociaux réduit leur impact négatif.</a:t>
            </a:r>
            <a:endParaRPr lang="en-US" sz="1300" dirty="0"/>
          </a:p>
        </p:txBody>
      </p:sp>
      <p:sp>
        <p:nvSpPr>
          <p:cNvPr id="26" name="Shape 24"/>
          <p:cNvSpPr/>
          <p:nvPr/>
        </p:nvSpPr>
        <p:spPr>
          <a:xfrm>
            <a:off x="8321040" y="1691640"/>
            <a:ext cx="3200400" cy="4206240"/>
          </a:xfrm>
          <a:prstGeom prst="rect">
            <a:avLst/>
          </a:prstGeom>
          <a:solidFill>
            <a:srgbClr val="16203A"/>
          </a:solidFill>
          <a:ln/>
        </p:spPr>
      </p:sp>
      <p:sp>
        <p:nvSpPr>
          <p:cNvPr id="27" name="Shape 25"/>
          <p:cNvSpPr/>
          <p:nvPr/>
        </p:nvSpPr>
        <p:spPr>
          <a:xfrm>
            <a:off x="8641080" y="1947672"/>
            <a:ext cx="420624" cy="420624"/>
          </a:xfrm>
          <a:prstGeom prst="ellipse">
            <a:avLst/>
          </a:prstGeom>
          <a:solidFill>
            <a:srgbClr val="2A3A5C"/>
          </a:solidFill>
          <a:ln/>
        </p:spPr>
      </p:sp>
      <p:pic>
        <p:nvPicPr>
          <p:cNvPr id="28" name="Image 0" descr="icons/bulb_white.png"/>
          <p:cNvPicPr>
            <a:picLocks noChangeAspect="1"/>
          </p:cNvPicPr>
          <p:nvPr/>
        </p:nvPicPr>
        <p:blipFill>
          <a:blip r:embed="rId3"/>
          <a:stretch>
            <a:fillRect/>
          </a:stretch>
        </p:blipFill>
        <p:spPr>
          <a:xfrm>
            <a:off x="8741664" y="2048256"/>
            <a:ext cx="219456" cy="219456"/>
          </a:xfrm>
          <a:prstGeom prst="rect">
            <a:avLst/>
          </a:prstGeom>
        </p:spPr>
      </p:pic>
      <p:sp>
        <p:nvSpPr>
          <p:cNvPr id="29" name="Text 26"/>
          <p:cNvSpPr/>
          <p:nvPr/>
        </p:nvSpPr>
        <p:spPr>
          <a:xfrm>
            <a:off x="9098280" y="1965960"/>
            <a:ext cx="22860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Objectifs de l'étude</a:t>
            </a:r>
            <a:endParaRPr lang="en-US" sz="1300" dirty="0"/>
          </a:p>
        </p:txBody>
      </p:sp>
      <p:sp>
        <p:nvSpPr>
          <p:cNvPr id="30" name="Text 27"/>
          <p:cNvSpPr/>
          <p:nvPr/>
        </p:nvSpPr>
        <p:spPr>
          <a:xfrm>
            <a:off x="8641080" y="2606040"/>
            <a:ext cx="2697480" cy="3108960"/>
          </a:xfrm>
          <a:prstGeom prst="rect">
            <a:avLst/>
          </a:prstGeom>
          <a:noFill/>
          <a:ln/>
        </p:spPr>
        <p:txBody>
          <a:bodyPr wrap="square" lIns="0" tIns="0" rIns="0" bIns="0" rtlCol="0" anchor="ctr"/>
          <a:lstStyle/>
          <a:p>
            <a:pPr marL="177800" indent="-177800">
              <a:lnSpc>
                <a:spcPct val="145000"/>
              </a:lnSpc>
              <a:spcAft>
                <a:spcPts val="1200"/>
              </a:spcAft>
              <a:buSzPct val="100000"/>
              <a:buChar char="•"/>
            </a:pPr>
            <a:r>
              <a:rPr lang="en-US" sz="1200" dirty="0">
                <a:solidFill>
                  <a:srgbClr val="D7DCE5"/>
                </a:solidFill>
                <a:latin typeface="Calibri" pitchFamily="34" charset="0"/>
                <a:ea typeface="Calibri" pitchFamily="34" charset="-122"/>
                <a:cs typeface="Calibri" pitchFamily="34" charset="-120"/>
              </a:rPr>
              <a:t>Analyser l'impact des réseaux sociaux sur l'attention des apprenants</a:t>
            </a:r>
            <a:endParaRPr lang="en-US" sz="1200" dirty="0"/>
          </a:p>
          <a:p>
            <a:pPr marL="177800" indent="-177800">
              <a:lnSpc>
                <a:spcPct val="145000"/>
              </a:lnSpc>
              <a:spcAft>
                <a:spcPts val="1200"/>
              </a:spcAft>
              <a:buSzPct val="100000"/>
              <a:buChar char="•"/>
            </a:pPr>
            <a:r>
              <a:rPr lang="en-US" sz="1200" dirty="0">
                <a:solidFill>
                  <a:srgbClr val="D7DCE5"/>
                </a:solidFill>
                <a:latin typeface="Calibri" pitchFamily="34" charset="0"/>
                <a:ea typeface="Calibri" pitchFamily="34" charset="-122"/>
                <a:cs typeface="Calibri" pitchFamily="34" charset="-120"/>
              </a:rPr>
              <a:t>Identifier les comportements liés à leur usage excessif</a:t>
            </a:r>
            <a:endParaRPr lang="en-US" sz="1200" dirty="0"/>
          </a:p>
          <a:p>
            <a:pPr marL="177800" indent="-177800">
              <a:lnSpc>
                <a:spcPct val="145000"/>
              </a:lnSpc>
              <a:spcAft>
                <a:spcPts val="1200"/>
              </a:spcAft>
              <a:buSzPct val="100000"/>
              <a:buChar char="•"/>
            </a:pPr>
            <a:r>
              <a:rPr lang="en-US" sz="1200" dirty="0">
                <a:solidFill>
                  <a:srgbClr val="D7DCE5"/>
                </a:solidFill>
                <a:latin typeface="Calibri" pitchFamily="34" charset="0"/>
                <a:ea typeface="Calibri" pitchFamily="34" charset="-122"/>
                <a:cs typeface="Calibri" pitchFamily="34" charset="-120"/>
              </a:rPr>
              <a:t>Étudier leur influence sur les résultats scolaires</a:t>
            </a:r>
            <a:endParaRPr lang="en-US" sz="1200" dirty="0"/>
          </a:p>
          <a:p>
            <a:pPr marL="177800" indent="-177800">
              <a:lnSpc>
                <a:spcPct val="145000"/>
              </a:lnSpc>
              <a:spcAft>
                <a:spcPts val="1200"/>
              </a:spcAft>
              <a:buSzPct val="100000"/>
              <a:buChar char="•"/>
            </a:pPr>
            <a:r>
              <a:rPr lang="en-US" sz="1200" dirty="0">
                <a:solidFill>
                  <a:srgbClr val="D7DCE5"/>
                </a:solidFill>
                <a:latin typeface="Calibri" pitchFamily="34" charset="0"/>
                <a:ea typeface="Calibri" pitchFamily="34" charset="-122"/>
                <a:cs typeface="Calibri" pitchFamily="34" charset="-120"/>
              </a:rPr>
              <a:t>Proposer des stratégies pédagogiques adaptées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292608"/>
          </a:xfrm>
          <a:prstGeom prst="rect">
            <a:avLst/>
          </a:prstGeom>
          <a:noFill/>
          <a:ln/>
        </p:spPr>
        <p:txBody>
          <a:bodyPr wrap="square" lIns="0" tIns="0" rIns="0" bIns="0" rtlCol="0" anchor="ctr"/>
          <a:lstStyle/>
          <a:p>
            <a:pPr marL="0" indent="0">
              <a:buNone/>
            </a:pPr>
            <a:r>
              <a:rPr lang="en-US" sz="1150" b="1" kern="0" spc="220" dirty="0">
                <a:solidFill>
                  <a:srgbClr val="1E2A45"/>
                </a:solidFill>
                <a:latin typeface="Calibri" pitchFamily="34" charset="0"/>
                <a:ea typeface="Calibri" pitchFamily="34" charset="-122"/>
                <a:cs typeface="Calibri" pitchFamily="34" charset="-120"/>
              </a:rPr>
              <a:t>02 — CADRE THÉORIQUE</a:t>
            </a:r>
            <a:endParaRPr lang="en-US" sz="1150" dirty="0"/>
          </a:p>
        </p:txBody>
      </p:sp>
      <p:sp>
        <p:nvSpPr>
          <p:cNvPr id="3" name="Text 1"/>
          <p:cNvSpPr/>
          <p:nvPr/>
        </p:nvSpPr>
        <p:spPr>
          <a:xfrm>
            <a:off x="640080" y="713232"/>
            <a:ext cx="10607040" cy="640080"/>
          </a:xfrm>
          <a:prstGeom prst="rect">
            <a:avLst/>
          </a:prstGeom>
          <a:noFill/>
          <a:ln/>
        </p:spPr>
        <p:txBody>
          <a:bodyPr wrap="square" lIns="0" tIns="0" rIns="0" bIns="0" rtlCol="0" anchor="ctr"/>
          <a:lstStyle/>
          <a:p>
            <a:pPr marL="0" indent="0">
              <a:buNone/>
            </a:pPr>
            <a:r>
              <a:rPr lang="en-US" sz="3000" b="1" dirty="0">
                <a:solidFill>
                  <a:srgbClr val="16203A"/>
                </a:solidFill>
                <a:latin typeface="Cambria" pitchFamily="34" charset="0"/>
                <a:ea typeface="Cambria" pitchFamily="34" charset="-122"/>
                <a:cs typeface="Cambria" pitchFamily="34" charset="-120"/>
              </a:rPr>
              <a:t>Fondements théoriques</a:t>
            </a:r>
            <a:endParaRPr lang="en-US" sz="3000" dirty="0"/>
          </a:p>
        </p:txBody>
      </p:sp>
      <p:sp>
        <p:nvSpPr>
          <p:cNvPr id="4" name="Text 2"/>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900" dirty="0">
                <a:solidFill>
                  <a:srgbClr val="8A92A0"/>
                </a:solidFill>
                <a:latin typeface="Calibri" pitchFamily="34" charset="0"/>
                <a:ea typeface="Calibri" pitchFamily="34" charset="-122"/>
                <a:cs typeface="Calibri" pitchFamily="34" charset="-120"/>
              </a:rPr>
              <a:t>05 / 13</a:t>
            </a:r>
            <a:endParaRPr lang="en-US" sz="900" dirty="0"/>
          </a:p>
        </p:txBody>
      </p:sp>
      <p:sp>
        <p:nvSpPr>
          <p:cNvPr id="5" name="Text 3"/>
          <p:cNvSpPr/>
          <p:nvPr/>
        </p:nvSpPr>
        <p:spPr>
          <a:xfrm>
            <a:off x="640080" y="6446520"/>
            <a:ext cx="6400800" cy="274320"/>
          </a:xfrm>
          <a:prstGeom prst="rect">
            <a:avLst/>
          </a:prstGeom>
          <a:noFill/>
          <a:ln/>
        </p:spPr>
        <p:txBody>
          <a:bodyPr wrap="square" lIns="0" tIns="0" rIns="0" bIns="0" rtlCol="0" anchor="ctr"/>
          <a:lstStyle/>
          <a:p>
            <a:pPr marL="0" indent="0">
              <a:buNone/>
            </a:pPr>
            <a:r>
              <a:rPr lang="en-US" sz="900" kern="0" spc="100" dirty="0">
                <a:solidFill>
                  <a:srgbClr val="8A92A0"/>
                </a:solidFill>
                <a:latin typeface="Calibri" pitchFamily="34" charset="0"/>
                <a:ea typeface="Calibri" pitchFamily="34" charset="-122"/>
                <a:cs typeface="Calibri" pitchFamily="34" charset="-120"/>
              </a:rPr>
              <a:t>PROJET PERSONNEL ENCADRÉ  •  CRMEF CASABLANCA-SETTAT</a:t>
            </a:r>
            <a:endParaRPr lang="en-US" sz="900" dirty="0"/>
          </a:p>
        </p:txBody>
      </p:sp>
      <p:sp>
        <p:nvSpPr>
          <p:cNvPr id="6" name="Shape 4"/>
          <p:cNvSpPr/>
          <p:nvPr/>
        </p:nvSpPr>
        <p:spPr>
          <a:xfrm>
            <a:off x="640080" y="1783080"/>
            <a:ext cx="3502152" cy="2788920"/>
          </a:xfrm>
          <a:prstGeom prst="rect">
            <a:avLst/>
          </a:prstGeom>
          <a:solidFill>
            <a:srgbClr val="F7F8FA"/>
          </a:solidFill>
          <a:ln w="12700">
            <a:solidFill>
              <a:srgbClr val="DCE0E6"/>
            </a:solidFill>
            <a:prstDash val="solid"/>
          </a:ln>
        </p:spPr>
      </p:sp>
      <p:pic>
        <p:nvPicPr>
          <p:cNvPr id="7" name="Image 0" descr="icons/search_navy.png"/>
          <p:cNvPicPr>
            <a:picLocks noChangeAspect="1"/>
          </p:cNvPicPr>
          <p:nvPr/>
        </p:nvPicPr>
        <p:blipFill>
          <a:blip r:embed="rId3"/>
          <a:stretch>
            <a:fillRect/>
          </a:stretch>
        </p:blipFill>
        <p:spPr>
          <a:xfrm>
            <a:off x="914400" y="2057400"/>
            <a:ext cx="411480" cy="411480"/>
          </a:xfrm>
          <a:prstGeom prst="rect">
            <a:avLst/>
          </a:prstGeom>
        </p:spPr>
      </p:pic>
      <p:sp>
        <p:nvSpPr>
          <p:cNvPr id="8" name="Text 5"/>
          <p:cNvSpPr/>
          <p:nvPr/>
        </p:nvSpPr>
        <p:spPr>
          <a:xfrm>
            <a:off x="914400" y="2587752"/>
            <a:ext cx="2953512" cy="548640"/>
          </a:xfrm>
          <a:prstGeom prst="rect">
            <a:avLst/>
          </a:prstGeom>
          <a:noFill/>
          <a:ln/>
        </p:spPr>
        <p:txBody>
          <a:bodyPr wrap="square" lIns="0" tIns="0" rIns="0" bIns="0" rtlCol="0" anchor="ctr"/>
          <a:lstStyle/>
          <a:p>
            <a:pPr marL="0" indent="0">
              <a:lnSpc>
                <a:spcPct val="115000"/>
              </a:lnSpc>
              <a:buNone/>
            </a:pPr>
            <a:r>
              <a:rPr lang="en-US" sz="1400" b="1" dirty="0">
                <a:solidFill>
                  <a:srgbClr val="16203A"/>
                </a:solidFill>
                <a:latin typeface="Calibri" pitchFamily="34" charset="0"/>
                <a:ea typeface="Calibri" pitchFamily="34" charset="-122"/>
                <a:cs typeface="Calibri" pitchFamily="34" charset="-120"/>
              </a:rPr>
              <a:t>Évolution des réseaux sociaux</a:t>
            </a:r>
            <a:endParaRPr lang="en-US" sz="1400" dirty="0"/>
          </a:p>
        </p:txBody>
      </p:sp>
      <p:sp>
        <p:nvSpPr>
          <p:cNvPr id="9" name="Text 6"/>
          <p:cNvSpPr/>
          <p:nvPr/>
        </p:nvSpPr>
        <p:spPr>
          <a:xfrm>
            <a:off x="914400" y="3200400"/>
            <a:ext cx="2953512" cy="1280160"/>
          </a:xfrm>
          <a:prstGeom prst="rect">
            <a:avLst/>
          </a:prstGeom>
          <a:noFill/>
          <a:ln/>
        </p:spPr>
        <p:txBody>
          <a:bodyPr wrap="square" lIns="0" tIns="0" rIns="0" bIns="0" rtlCol="0" anchor="ctr"/>
          <a:lstStyle/>
          <a:p>
            <a:pPr marL="152400" indent="-152400">
              <a:lnSpc>
                <a:spcPct val="130000"/>
              </a:lnSpc>
              <a:spcAft>
                <a:spcPts val="800"/>
              </a:spcAft>
              <a:buSzPct val="100000"/>
              <a:buChar char="•"/>
            </a:pPr>
            <a:r>
              <a:rPr lang="en-US" sz="1100" dirty="0">
                <a:solidFill>
                  <a:srgbClr val="5B6470"/>
                </a:solidFill>
                <a:latin typeface="Calibri" pitchFamily="34" charset="0"/>
                <a:ea typeface="Calibri" pitchFamily="34" charset="-122"/>
                <a:cs typeface="Calibri" pitchFamily="34" charset="-120"/>
              </a:rPr>
              <a:t>Facebook → Instagram → TikTok</a:t>
            </a:r>
            <a:endParaRPr lang="en-US" sz="1100" dirty="0"/>
          </a:p>
          <a:p>
            <a:pPr marL="152400" indent="-152400">
              <a:lnSpc>
                <a:spcPct val="130000"/>
              </a:lnSpc>
              <a:spcAft>
                <a:spcPts val="800"/>
              </a:spcAft>
              <a:buSzPct val="100000"/>
              <a:buChar char="•"/>
            </a:pPr>
            <a:r>
              <a:rPr lang="en-US" sz="1100" dirty="0">
                <a:solidFill>
                  <a:srgbClr val="5B6470"/>
                </a:solidFill>
                <a:latin typeface="Calibri" pitchFamily="34" charset="0"/>
                <a:ea typeface="Calibri" pitchFamily="34" charset="-122"/>
                <a:cs typeface="Calibri" pitchFamily="34" charset="-120"/>
              </a:rPr>
              <a:t>Vidéos courtes, algorithmes prédictifs</a:t>
            </a:r>
            <a:endParaRPr lang="en-US" sz="1100" dirty="0"/>
          </a:p>
          <a:p>
            <a:pPr marL="152400" indent="-152400">
              <a:lnSpc>
                <a:spcPct val="130000"/>
              </a:lnSpc>
              <a:spcAft>
                <a:spcPts val="800"/>
              </a:spcAft>
              <a:buSzPct val="100000"/>
              <a:buChar char="•"/>
            </a:pPr>
            <a:r>
              <a:rPr lang="en-US" sz="1100" dirty="0">
                <a:solidFill>
                  <a:srgbClr val="5B6470"/>
                </a:solidFill>
                <a:latin typeface="Calibri" pitchFamily="34" charset="0"/>
                <a:ea typeface="Calibri" pitchFamily="34" charset="-122"/>
                <a:cs typeface="Calibri" pitchFamily="34" charset="-120"/>
              </a:rPr>
              <a:t>Consommation rapide et répétitive</a:t>
            </a:r>
            <a:endParaRPr lang="en-US" sz="1100" dirty="0"/>
          </a:p>
        </p:txBody>
      </p:sp>
      <p:sp>
        <p:nvSpPr>
          <p:cNvPr id="10" name="Shape 7"/>
          <p:cNvSpPr/>
          <p:nvPr/>
        </p:nvSpPr>
        <p:spPr>
          <a:xfrm>
            <a:off x="4370832" y="1783080"/>
            <a:ext cx="3502152" cy="2788920"/>
          </a:xfrm>
          <a:prstGeom prst="rect">
            <a:avLst/>
          </a:prstGeom>
          <a:solidFill>
            <a:srgbClr val="F7F8FA"/>
          </a:solidFill>
          <a:ln w="12700">
            <a:solidFill>
              <a:srgbClr val="DCE0E6"/>
            </a:solidFill>
            <a:prstDash val="solid"/>
          </a:ln>
        </p:spPr>
      </p:sp>
      <p:pic>
        <p:nvPicPr>
          <p:cNvPr id="11" name="Image 1" descr="icons/brain_navy.png"/>
          <p:cNvPicPr>
            <a:picLocks noChangeAspect="1"/>
          </p:cNvPicPr>
          <p:nvPr/>
        </p:nvPicPr>
        <p:blipFill>
          <a:blip r:embed="rId4"/>
          <a:stretch>
            <a:fillRect/>
          </a:stretch>
        </p:blipFill>
        <p:spPr>
          <a:xfrm>
            <a:off x="4645152" y="2057400"/>
            <a:ext cx="411480" cy="411480"/>
          </a:xfrm>
          <a:prstGeom prst="rect">
            <a:avLst/>
          </a:prstGeom>
        </p:spPr>
      </p:pic>
      <p:sp>
        <p:nvSpPr>
          <p:cNvPr id="12" name="Text 8"/>
          <p:cNvSpPr/>
          <p:nvPr/>
        </p:nvSpPr>
        <p:spPr>
          <a:xfrm>
            <a:off x="4645152" y="2587752"/>
            <a:ext cx="2953512" cy="548640"/>
          </a:xfrm>
          <a:prstGeom prst="rect">
            <a:avLst/>
          </a:prstGeom>
          <a:noFill/>
          <a:ln/>
        </p:spPr>
        <p:txBody>
          <a:bodyPr wrap="square" lIns="0" tIns="0" rIns="0" bIns="0" rtlCol="0" anchor="ctr"/>
          <a:lstStyle/>
          <a:p>
            <a:pPr marL="0" indent="0">
              <a:lnSpc>
                <a:spcPct val="115000"/>
              </a:lnSpc>
              <a:buNone/>
            </a:pPr>
            <a:r>
              <a:rPr lang="en-US" sz="1400" b="1" dirty="0">
                <a:solidFill>
                  <a:srgbClr val="16203A"/>
                </a:solidFill>
                <a:latin typeface="Calibri" pitchFamily="34" charset="0"/>
                <a:ea typeface="Calibri" pitchFamily="34" charset="-122"/>
                <a:cs typeface="Calibri" pitchFamily="34" charset="-120"/>
              </a:rPr>
              <a:t>Psychologie cognitive</a:t>
            </a:r>
            <a:endParaRPr lang="en-US" sz="1400" dirty="0"/>
          </a:p>
        </p:txBody>
      </p:sp>
      <p:sp>
        <p:nvSpPr>
          <p:cNvPr id="13" name="Text 9"/>
          <p:cNvSpPr/>
          <p:nvPr/>
        </p:nvSpPr>
        <p:spPr>
          <a:xfrm>
            <a:off x="4645152" y="3200400"/>
            <a:ext cx="2953512" cy="1280160"/>
          </a:xfrm>
          <a:prstGeom prst="rect">
            <a:avLst/>
          </a:prstGeom>
          <a:noFill/>
          <a:ln/>
        </p:spPr>
        <p:txBody>
          <a:bodyPr wrap="square" lIns="0" tIns="0" rIns="0" bIns="0" rtlCol="0" anchor="ctr"/>
          <a:lstStyle/>
          <a:p>
            <a:pPr marL="152400" indent="-152400">
              <a:lnSpc>
                <a:spcPct val="130000"/>
              </a:lnSpc>
              <a:spcAft>
                <a:spcPts val="800"/>
              </a:spcAft>
              <a:buSzPct val="100000"/>
              <a:buChar char="•"/>
            </a:pPr>
            <a:r>
              <a:rPr lang="en-US" sz="1100" dirty="0">
                <a:solidFill>
                  <a:srgbClr val="5B6470"/>
                </a:solidFill>
                <a:latin typeface="Calibri" pitchFamily="34" charset="0"/>
                <a:ea typeface="Calibri" pitchFamily="34" charset="-122"/>
                <a:cs typeface="Calibri" pitchFamily="34" charset="-120"/>
              </a:rPr>
              <a:t>L'attention est une ressource limitée</a:t>
            </a:r>
            <a:endParaRPr lang="en-US" sz="1100" dirty="0"/>
          </a:p>
          <a:p>
            <a:pPr marL="152400" indent="-152400">
              <a:lnSpc>
                <a:spcPct val="130000"/>
              </a:lnSpc>
              <a:spcAft>
                <a:spcPts val="800"/>
              </a:spcAft>
              <a:buSzPct val="100000"/>
              <a:buChar char="•"/>
            </a:pPr>
            <a:r>
              <a:rPr lang="en-US" sz="1100" dirty="0">
                <a:solidFill>
                  <a:srgbClr val="5B6470"/>
                </a:solidFill>
                <a:latin typeface="Calibri" pitchFamily="34" charset="0"/>
                <a:ea typeface="Calibri" pitchFamily="34" charset="-122"/>
                <a:cs typeface="Calibri" pitchFamily="34" charset="-120"/>
              </a:rPr>
              <a:t>Le multitâche réduit l'efficacité cognitive</a:t>
            </a:r>
            <a:endParaRPr lang="en-US" sz="1100" dirty="0"/>
          </a:p>
          <a:p>
            <a:pPr marL="152400" indent="-152400">
              <a:lnSpc>
                <a:spcPct val="130000"/>
              </a:lnSpc>
              <a:spcAft>
                <a:spcPts val="800"/>
              </a:spcAft>
              <a:buSzPct val="100000"/>
              <a:buChar char="•"/>
            </a:pPr>
            <a:r>
              <a:rPr lang="en-US" sz="1100" dirty="0">
                <a:solidFill>
                  <a:srgbClr val="5B6470"/>
                </a:solidFill>
                <a:latin typeface="Calibri" pitchFamily="34" charset="0"/>
                <a:ea typeface="Calibri" pitchFamily="34" charset="-122"/>
                <a:cs typeface="Calibri" pitchFamily="34" charset="-120"/>
              </a:rPr>
              <a:t>Surcharge cognitive et mémorisation réduite</a:t>
            </a:r>
            <a:endParaRPr lang="en-US" sz="1100" dirty="0"/>
          </a:p>
        </p:txBody>
      </p:sp>
      <p:sp>
        <p:nvSpPr>
          <p:cNvPr id="14" name="Shape 10"/>
          <p:cNvSpPr/>
          <p:nvPr/>
        </p:nvSpPr>
        <p:spPr>
          <a:xfrm>
            <a:off x="8101584" y="1783080"/>
            <a:ext cx="3502152" cy="2788920"/>
          </a:xfrm>
          <a:prstGeom prst="rect">
            <a:avLst/>
          </a:prstGeom>
          <a:solidFill>
            <a:srgbClr val="F7F8FA"/>
          </a:solidFill>
          <a:ln w="12700">
            <a:solidFill>
              <a:srgbClr val="DCE0E6"/>
            </a:solidFill>
            <a:prstDash val="solid"/>
          </a:ln>
        </p:spPr>
      </p:sp>
      <p:pic>
        <p:nvPicPr>
          <p:cNvPr id="15" name="Image 2" descr="icons/school_navy.png"/>
          <p:cNvPicPr>
            <a:picLocks noChangeAspect="1"/>
          </p:cNvPicPr>
          <p:nvPr/>
        </p:nvPicPr>
        <p:blipFill>
          <a:blip r:embed="rId5"/>
          <a:stretch>
            <a:fillRect/>
          </a:stretch>
        </p:blipFill>
        <p:spPr>
          <a:xfrm>
            <a:off x="8375904" y="2057400"/>
            <a:ext cx="411480" cy="411480"/>
          </a:xfrm>
          <a:prstGeom prst="rect">
            <a:avLst/>
          </a:prstGeom>
        </p:spPr>
      </p:pic>
      <p:sp>
        <p:nvSpPr>
          <p:cNvPr id="16" name="Text 11"/>
          <p:cNvSpPr/>
          <p:nvPr/>
        </p:nvSpPr>
        <p:spPr>
          <a:xfrm>
            <a:off x="8375904" y="2587752"/>
            <a:ext cx="2953512" cy="548640"/>
          </a:xfrm>
          <a:prstGeom prst="rect">
            <a:avLst/>
          </a:prstGeom>
          <a:noFill/>
          <a:ln/>
        </p:spPr>
        <p:txBody>
          <a:bodyPr wrap="square" lIns="0" tIns="0" rIns="0" bIns="0" rtlCol="0" anchor="ctr"/>
          <a:lstStyle/>
          <a:p>
            <a:pPr marL="0" indent="0">
              <a:lnSpc>
                <a:spcPct val="115000"/>
              </a:lnSpc>
              <a:buNone/>
            </a:pPr>
            <a:r>
              <a:rPr lang="en-US" sz="1400" b="1" dirty="0">
                <a:solidFill>
                  <a:srgbClr val="16203A"/>
                </a:solidFill>
                <a:latin typeface="Calibri" pitchFamily="34" charset="0"/>
                <a:ea typeface="Calibri" pitchFamily="34" charset="-122"/>
                <a:cs typeface="Calibri" pitchFamily="34" charset="-120"/>
              </a:rPr>
              <a:t>Usage au Maroc</a:t>
            </a:r>
            <a:endParaRPr lang="en-US" sz="1400" dirty="0"/>
          </a:p>
        </p:txBody>
      </p:sp>
      <p:sp>
        <p:nvSpPr>
          <p:cNvPr id="17" name="Text 12"/>
          <p:cNvSpPr/>
          <p:nvPr/>
        </p:nvSpPr>
        <p:spPr>
          <a:xfrm>
            <a:off x="8375904" y="3200400"/>
            <a:ext cx="2953512" cy="1280160"/>
          </a:xfrm>
          <a:prstGeom prst="rect">
            <a:avLst/>
          </a:prstGeom>
          <a:noFill/>
          <a:ln/>
        </p:spPr>
        <p:txBody>
          <a:bodyPr wrap="square" lIns="0" tIns="0" rIns="0" bIns="0" rtlCol="0" anchor="ctr"/>
          <a:lstStyle/>
          <a:p>
            <a:pPr marL="152400" indent="-152400">
              <a:lnSpc>
                <a:spcPct val="130000"/>
              </a:lnSpc>
              <a:spcAft>
                <a:spcPts val="800"/>
              </a:spcAft>
              <a:buSzPct val="100000"/>
              <a:buChar char="•"/>
            </a:pPr>
            <a:r>
              <a:rPr lang="en-US" sz="1100" dirty="0">
                <a:solidFill>
                  <a:srgbClr val="5B6470"/>
                </a:solidFill>
                <a:latin typeface="Calibri" pitchFamily="34" charset="0"/>
                <a:ea typeface="Calibri" pitchFamily="34" charset="-122"/>
                <a:cs typeface="Calibri" pitchFamily="34" charset="-120"/>
              </a:rPr>
              <a:t>TikTok dominant chez les collégiens</a:t>
            </a:r>
            <a:endParaRPr lang="en-US" sz="1100" dirty="0"/>
          </a:p>
          <a:p>
            <a:pPr marL="152400" indent="-152400">
              <a:lnSpc>
                <a:spcPct val="130000"/>
              </a:lnSpc>
              <a:spcAft>
                <a:spcPts val="800"/>
              </a:spcAft>
              <a:buSzPct val="100000"/>
              <a:buChar char="•"/>
            </a:pPr>
            <a:r>
              <a:rPr lang="en-US" sz="1100" dirty="0">
                <a:solidFill>
                  <a:srgbClr val="5B6470"/>
                </a:solidFill>
                <a:latin typeface="Calibri" pitchFamily="34" charset="0"/>
                <a:ea typeface="Calibri" pitchFamily="34" charset="-122"/>
                <a:cs typeface="Calibri" pitchFamily="34" charset="-120"/>
              </a:rPr>
              <a:t>Smartphones largement accessibles</a:t>
            </a:r>
            <a:endParaRPr lang="en-US" sz="1100" dirty="0"/>
          </a:p>
          <a:p>
            <a:pPr marL="152400" indent="-152400">
              <a:lnSpc>
                <a:spcPct val="130000"/>
              </a:lnSpc>
              <a:spcAft>
                <a:spcPts val="800"/>
              </a:spcAft>
              <a:buSzPct val="100000"/>
              <a:buChar char="•"/>
            </a:pPr>
            <a:r>
              <a:rPr lang="en-US" sz="1100" dirty="0">
                <a:solidFill>
                  <a:srgbClr val="5B6470"/>
                </a:solidFill>
                <a:latin typeface="Calibri" pitchFamily="34" charset="0"/>
                <a:ea typeface="Calibri" pitchFamily="34" charset="-122"/>
                <a:cs typeface="Calibri" pitchFamily="34" charset="-120"/>
              </a:rPr>
              <a:t>Distraction avant, pendant, après les cours</a:t>
            </a:r>
            <a:endParaRPr lang="en-US" sz="1100" dirty="0"/>
          </a:p>
        </p:txBody>
      </p:sp>
      <p:sp>
        <p:nvSpPr>
          <p:cNvPr id="18" name="Shape 13"/>
          <p:cNvSpPr/>
          <p:nvPr/>
        </p:nvSpPr>
        <p:spPr>
          <a:xfrm>
            <a:off x="640080" y="4892040"/>
            <a:ext cx="10927080" cy="0"/>
          </a:xfrm>
          <a:prstGeom prst="line">
            <a:avLst/>
          </a:prstGeom>
          <a:noFill/>
          <a:ln w="12700">
            <a:solidFill>
              <a:srgbClr val="DCE0E6"/>
            </a:solidFill>
            <a:prstDash val="solid"/>
          </a:ln>
        </p:spPr>
      </p:sp>
      <p:sp>
        <p:nvSpPr>
          <p:cNvPr id="19" name="Text 14"/>
          <p:cNvSpPr/>
          <p:nvPr/>
        </p:nvSpPr>
        <p:spPr>
          <a:xfrm>
            <a:off x="640080" y="5074920"/>
            <a:ext cx="10927080" cy="640080"/>
          </a:xfrm>
          <a:prstGeom prst="rect">
            <a:avLst/>
          </a:prstGeom>
          <a:noFill/>
          <a:ln/>
        </p:spPr>
        <p:txBody>
          <a:bodyPr wrap="square" lIns="0" tIns="0" rIns="0" bIns="0" rtlCol="0" anchor="ctr"/>
          <a:lstStyle/>
          <a:p>
            <a:pPr marL="0" indent="0">
              <a:lnSpc>
                <a:spcPct val="130000"/>
              </a:lnSpc>
              <a:buNone/>
            </a:pPr>
            <a:r>
              <a:rPr lang="en-US" sz="1200" b="1" i="1" dirty="0">
                <a:solidFill>
                  <a:srgbClr val="1E2A45"/>
                </a:solidFill>
                <a:latin typeface="Calibri" pitchFamily="34" charset="0"/>
                <a:ea typeface="Calibri" pitchFamily="34" charset="-122"/>
                <a:cs typeface="Calibri" pitchFamily="34" charset="-120"/>
              </a:rPr>
              <a:t>Mécanisme clé   </a:t>
            </a:r>
            <a:r>
              <a:rPr lang="en-US" sz="1200" i="1" dirty="0">
                <a:solidFill>
                  <a:srgbClr val="5B6470"/>
                </a:solidFill>
                <a:latin typeface="Calibri" pitchFamily="34" charset="0"/>
                <a:ea typeface="Calibri" pitchFamily="34" charset="-122"/>
                <a:cs typeface="Calibri" pitchFamily="34" charset="-120"/>
              </a:rPr>
              <a:t>La dopamine libérée par les notifications crée un besoin fréquent de consultation, favorisant une forme de dépendance numérique chez les adolescents.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292608"/>
          </a:xfrm>
          <a:prstGeom prst="rect">
            <a:avLst/>
          </a:prstGeom>
          <a:noFill/>
          <a:ln/>
        </p:spPr>
        <p:txBody>
          <a:bodyPr wrap="square" lIns="0" tIns="0" rIns="0" bIns="0" rtlCol="0" anchor="ctr"/>
          <a:lstStyle/>
          <a:p>
            <a:pPr marL="0" indent="0">
              <a:buNone/>
            </a:pPr>
            <a:r>
              <a:rPr lang="en-US" sz="1150" b="1" kern="0" spc="220" dirty="0">
                <a:solidFill>
                  <a:srgbClr val="1E2A45"/>
                </a:solidFill>
                <a:latin typeface="Calibri" pitchFamily="34" charset="0"/>
                <a:ea typeface="Calibri" pitchFamily="34" charset="-122"/>
                <a:cs typeface="Calibri" pitchFamily="34" charset="-120"/>
              </a:rPr>
              <a:t>03 — MÉTHODOLOGIE</a:t>
            </a:r>
            <a:endParaRPr lang="en-US" sz="1150" dirty="0"/>
          </a:p>
        </p:txBody>
      </p:sp>
      <p:sp>
        <p:nvSpPr>
          <p:cNvPr id="3" name="Text 1"/>
          <p:cNvSpPr/>
          <p:nvPr/>
        </p:nvSpPr>
        <p:spPr>
          <a:xfrm>
            <a:off x="640080" y="713232"/>
            <a:ext cx="10607040" cy="640080"/>
          </a:xfrm>
          <a:prstGeom prst="rect">
            <a:avLst/>
          </a:prstGeom>
          <a:noFill/>
          <a:ln/>
        </p:spPr>
        <p:txBody>
          <a:bodyPr wrap="square" lIns="0" tIns="0" rIns="0" bIns="0" rtlCol="0" anchor="ctr"/>
          <a:lstStyle/>
          <a:p>
            <a:pPr marL="0" indent="0">
              <a:buNone/>
            </a:pPr>
            <a:r>
              <a:rPr lang="en-US" sz="3000" b="1" dirty="0">
                <a:solidFill>
                  <a:srgbClr val="16203A"/>
                </a:solidFill>
                <a:latin typeface="Cambria" pitchFamily="34" charset="0"/>
                <a:ea typeface="Cambria" pitchFamily="34" charset="-122"/>
                <a:cs typeface="Cambria" pitchFamily="34" charset="-120"/>
              </a:rPr>
              <a:t>Démarche de recherche</a:t>
            </a:r>
            <a:endParaRPr lang="en-US" sz="3000" dirty="0"/>
          </a:p>
        </p:txBody>
      </p:sp>
      <p:sp>
        <p:nvSpPr>
          <p:cNvPr id="4" name="Text 2"/>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900" dirty="0">
                <a:solidFill>
                  <a:srgbClr val="8A92A0"/>
                </a:solidFill>
                <a:latin typeface="Calibri" pitchFamily="34" charset="0"/>
                <a:ea typeface="Calibri" pitchFamily="34" charset="-122"/>
                <a:cs typeface="Calibri" pitchFamily="34" charset="-120"/>
              </a:rPr>
              <a:t>06 / 13</a:t>
            </a:r>
            <a:endParaRPr lang="en-US" sz="900" dirty="0"/>
          </a:p>
        </p:txBody>
      </p:sp>
      <p:sp>
        <p:nvSpPr>
          <p:cNvPr id="5" name="Text 3"/>
          <p:cNvSpPr/>
          <p:nvPr/>
        </p:nvSpPr>
        <p:spPr>
          <a:xfrm>
            <a:off x="640080" y="6446520"/>
            <a:ext cx="6400800" cy="274320"/>
          </a:xfrm>
          <a:prstGeom prst="rect">
            <a:avLst/>
          </a:prstGeom>
          <a:noFill/>
          <a:ln/>
        </p:spPr>
        <p:txBody>
          <a:bodyPr wrap="square" lIns="0" tIns="0" rIns="0" bIns="0" rtlCol="0" anchor="ctr"/>
          <a:lstStyle/>
          <a:p>
            <a:pPr marL="0" indent="0">
              <a:buNone/>
            </a:pPr>
            <a:r>
              <a:rPr lang="en-US" sz="900" kern="0" spc="100" dirty="0">
                <a:solidFill>
                  <a:srgbClr val="8A92A0"/>
                </a:solidFill>
                <a:latin typeface="Calibri" pitchFamily="34" charset="0"/>
                <a:ea typeface="Calibri" pitchFamily="34" charset="-122"/>
                <a:cs typeface="Calibri" pitchFamily="34" charset="-120"/>
              </a:rPr>
              <a:t>PROJET PERSONNEL ENCADRÉ  •  CRMEF CASABLANCA-SETTAT</a:t>
            </a:r>
            <a:endParaRPr lang="en-US" sz="900" dirty="0"/>
          </a:p>
        </p:txBody>
      </p:sp>
      <p:sp>
        <p:nvSpPr>
          <p:cNvPr id="6" name="Text 4"/>
          <p:cNvSpPr/>
          <p:nvPr/>
        </p:nvSpPr>
        <p:spPr>
          <a:xfrm>
            <a:off x="640080" y="1691640"/>
            <a:ext cx="4937760" cy="365760"/>
          </a:xfrm>
          <a:prstGeom prst="rect">
            <a:avLst/>
          </a:prstGeom>
          <a:noFill/>
          <a:ln/>
        </p:spPr>
        <p:txBody>
          <a:bodyPr wrap="square" lIns="0" tIns="0" rIns="0" bIns="0" rtlCol="0" anchor="ctr"/>
          <a:lstStyle/>
          <a:p>
            <a:pPr marL="0" indent="0">
              <a:buNone/>
            </a:pPr>
            <a:r>
              <a:rPr lang="en-US" sz="1300" b="1" dirty="0">
                <a:solidFill>
                  <a:srgbClr val="1E2A45"/>
                </a:solidFill>
                <a:latin typeface="Calibri" pitchFamily="34" charset="0"/>
                <a:ea typeface="Calibri" pitchFamily="34" charset="-122"/>
                <a:cs typeface="Calibri" pitchFamily="34" charset="-120"/>
              </a:rPr>
              <a:t>Outils de collecte des données</a:t>
            </a:r>
            <a:endParaRPr lang="en-US" sz="1300" dirty="0"/>
          </a:p>
        </p:txBody>
      </p:sp>
      <p:pic>
        <p:nvPicPr>
          <p:cNvPr id="7" name="Image 0" descr="icons/clipboard_navy.png"/>
          <p:cNvPicPr>
            <a:picLocks noChangeAspect="1"/>
          </p:cNvPicPr>
          <p:nvPr/>
        </p:nvPicPr>
        <p:blipFill>
          <a:blip r:embed="rId3"/>
          <a:stretch>
            <a:fillRect/>
          </a:stretch>
        </p:blipFill>
        <p:spPr>
          <a:xfrm>
            <a:off x="640080" y="2240280"/>
            <a:ext cx="384048" cy="384048"/>
          </a:xfrm>
          <a:prstGeom prst="rect">
            <a:avLst/>
          </a:prstGeom>
        </p:spPr>
      </p:pic>
      <p:sp>
        <p:nvSpPr>
          <p:cNvPr id="8" name="Text 5"/>
          <p:cNvSpPr/>
          <p:nvPr/>
        </p:nvSpPr>
        <p:spPr>
          <a:xfrm>
            <a:off x="1234440" y="2194560"/>
            <a:ext cx="4389120" cy="320040"/>
          </a:xfrm>
          <a:prstGeom prst="rect">
            <a:avLst/>
          </a:prstGeom>
          <a:noFill/>
          <a:ln/>
        </p:spPr>
        <p:txBody>
          <a:bodyPr wrap="square" lIns="0" tIns="0" rIns="0" bIns="0" rtlCol="0" anchor="ctr"/>
          <a:lstStyle/>
          <a:p>
            <a:pPr marL="0" indent="0">
              <a:buNone/>
            </a:pPr>
            <a:r>
              <a:rPr lang="en-US" sz="1300" b="1" dirty="0">
                <a:solidFill>
                  <a:srgbClr val="16203A"/>
                </a:solidFill>
                <a:latin typeface="Calibri" pitchFamily="34" charset="0"/>
                <a:ea typeface="Calibri" pitchFamily="34" charset="-122"/>
                <a:cs typeface="Calibri" pitchFamily="34" charset="-120"/>
              </a:rPr>
              <a:t>Observation directe en classe</a:t>
            </a:r>
            <a:endParaRPr lang="en-US" sz="1300" dirty="0"/>
          </a:p>
        </p:txBody>
      </p:sp>
      <p:sp>
        <p:nvSpPr>
          <p:cNvPr id="9" name="Text 6"/>
          <p:cNvSpPr/>
          <p:nvPr/>
        </p:nvSpPr>
        <p:spPr>
          <a:xfrm>
            <a:off x="1234440" y="2514600"/>
            <a:ext cx="4389120" cy="320040"/>
          </a:xfrm>
          <a:prstGeom prst="rect">
            <a:avLst/>
          </a:prstGeom>
          <a:noFill/>
          <a:ln/>
        </p:spPr>
        <p:txBody>
          <a:bodyPr wrap="square" lIns="0" tIns="0" rIns="0" bIns="0" rtlCol="0" anchor="ctr"/>
          <a:lstStyle/>
          <a:p>
            <a:pPr marL="0" indent="0">
              <a:buNone/>
            </a:pPr>
            <a:r>
              <a:rPr lang="en-US" sz="1100" dirty="0">
                <a:solidFill>
                  <a:srgbClr val="5B6470"/>
                </a:solidFill>
                <a:latin typeface="Calibri" pitchFamily="34" charset="0"/>
                <a:ea typeface="Calibri" pitchFamily="34" charset="-122"/>
                <a:cs typeface="Calibri" pitchFamily="34" charset="-120"/>
              </a:rPr>
              <a:t>Stage effectué entre 2020 et 2024</a:t>
            </a:r>
            <a:endParaRPr lang="en-US" sz="1100" dirty="0"/>
          </a:p>
        </p:txBody>
      </p:sp>
      <p:pic>
        <p:nvPicPr>
          <p:cNvPr id="10" name="Image 1" descr="icons/users_navy.png"/>
          <p:cNvPicPr>
            <a:picLocks noChangeAspect="1"/>
          </p:cNvPicPr>
          <p:nvPr/>
        </p:nvPicPr>
        <p:blipFill>
          <a:blip r:embed="rId4"/>
          <a:stretch>
            <a:fillRect/>
          </a:stretch>
        </p:blipFill>
        <p:spPr>
          <a:xfrm>
            <a:off x="640080" y="3108960"/>
            <a:ext cx="384048" cy="384048"/>
          </a:xfrm>
          <a:prstGeom prst="rect">
            <a:avLst/>
          </a:prstGeom>
        </p:spPr>
      </p:pic>
      <p:sp>
        <p:nvSpPr>
          <p:cNvPr id="11" name="Text 7"/>
          <p:cNvSpPr/>
          <p:nvPr/>
        </p:nvSpPr>
        <p:spPr>
          <a:xfrm>
            <a:off x="1234440" y="3063240"/>
            <a:ext cx="4389120" cy="320040"/>
          </a:xfrm>
          <a:prstGeom prst="rect">
            <a:avLst/>
          </a:prstGeom>
          <a:noFill/>
          <a:ln/>
        </p:spPr>
        <p:txBody>
          <a:bodyPr wrap="square" lIns="0" tIns="0" rIns="0" bIns="0" rtlCol="0" anchor="ctr"/>
          <a:lstStyle/>
          <a:p>
            <a:pPr marL="0" indent="0">
              <a:buNone/>
            </a:pPr>
            <a:r>
              <a:rPr lang="en-US" sz="1300" b="1" dirty="0">
                <a:solidFill>
                  <a:srgbClr val="16203A"/>
                </a:solidFill>
                <a:latin typeface="Calibri" pitchFamily="34" charset="0"/>
                <a:ea typeface="Calibri" pitchFamily="34" charset="-122"/>
                <a:cs typeface="Calibri" pitchFamily="34" charset="-120"/>
              </a:rPr>
              <a:t>Questionnaire enseignants</a:t>
            </a:r>
            <a:endParaRPr lang="en-US" sz="1300" dirty="0"/>
          </a:p>
        </p:txBody>
      </p:sp>
      <p:sp>
        <p:nvSpPr>
          <p:cNvPr id="12" name="Text 8"/>
          <p:cNvSpPr/>
          <p:nvPr/>
        </p:nvSpPr>
        <p:spPr>
          <a:xfrm>
            <a:off x="1234440" y="3383280"/>
            <a:ext cx="4389120" cy="320040"/>
          </a:xfrm>
          <a:prstGeom prst="rect">
            <a:avLst/>
          </a:prstGeom>
          <a:noFill/>
          <a:ln/>
        </p:spPr>
        <p:txBody>
          <a:bodyPr wrap="square" lIns="0" tIns="0" rIns="0" bIns="0" rtlCol="0" anchor="ctr"/>
          <a:lstStyle/>
          <a:p>
            <a:pPr marL="0" indent="0">
              <a:buNone/>
            </a:pPr>
            <a:r>
              <a:rPr lang="en-US" sz="1100" dirty="0">
                <a:solidFill>
                  <a:srgbClr val="5B6470"/>
                </a:solidFill>
                <a:latin typeface="Calibri" pitchFamily="34" charset="0"/>
                <a:ea typeface="Calibri" pitchFamily="34" charset="-122"/>
                <a:cs typeface="Calibri" pitchFamily="34" charset="-120"/>
              </a:rPr>
              <a:t>50 enseignants, structuré en 3 axes</a:t>
            </a:r>
            <a:endParaRPr lang="en-US" sz="1100" dirty="0"/>
          </a:p>
        </p:txBody>
      </p:sp>
      <p:pic>
        <p:nvPicPr>
          <p:cNvPr id="13" name="Image 2" descr="icons/chart_navy.png"/>
          <p:cNvPicPr>
            <a:picLocks noChangeAspect="1"/>
          </p:cNvPicPr>
          <p:nvPr/>
        </p:nvPicPr>
        <p:blipFill>
          <a:blip r:embed="rId5"/>
          <a:stretch>
            <a:fillRect/>
          </a:stretch>
        </p:blipFill>
        <p:spPr>
          <a:xfrm>
            <a:off x="640080" y="3977640"/>
            <a:ext cx="384048" cy="384048"/>
          </a:xfrm>
          <a:prstGeom prst="rect">
            <a:avLst/>
          </a:prstGeom>
        </p:spPr>
      </p:pic>
      <p:sp>
        <p:nvSpPr>
          <p:cNvPr id="14" name="Text 9"/>
          <p:cNvSpPr/>
          <p:nvPr/>
        </p:nvSpPr>
        <p:spPr>
          <a:xfrm>
            <a:off x="1234440" y="3931920"/>
            <a:ext cx="4389120" cy="320040"/>
          </a:xfrm>
          <a:prstGeom prst="rect">
            <a:avLst/>
          </a:prstGeom>
          <a:noFill/>
          <a:ln/>
        </p:spPr>
        <p:txBody>
          <a:bodyPr wrap="square" lIns="0" tIns="0" rIns="0" bIns="0" rtlCol="0" anchor="ctr"/>
          <a:lstStyle/>
          <a:p>
            <a:pPr marL="0" indent="0">
              <a:buNone/>
            </a:pPr>
            <a:r>
              <a:rPr lang="en-US" sz="1300" b="1" dirty="0">
                <a:solidFill>
                  <a:srgbClr val="16203A"/>
                </a:solidFill>
                <a:latin typeface="Calibri" pitchFamily="34" charset="0"/>
                <a:ea typeface="Calibri" pitchFamily="34" charset="-122"/>
                <a:cs typeface="Calibri" pitchFamily="34" charset="-120"/>
              </a:rPr>
              <a:t>Analyse mixte des données</a:t>
            </a:r>
            <a:endParaRPr lang="en-US" sz="1300" dirty="0"/>
          </a:p>
        </p:txBody>
      </p:sp>
      <p:sp>
        <p:nvSpPr>
          <p:cNvPr id="15" name="Text 10"/>
          <p:cNvSpPr/>
          <p:nvPr/>
        </p:nvSpPr>
        <p:spPr>
          <a:xfrm>
            <a:off x="1234440" y="4251960"/>
            <a:ext cx="4389120" cy="320040"/>
          </a:xfrm>
          <a:prstGeom prst="rect">
            <a:avLst/>
          </a:prstGeom>
          <a:noFill/>
          <a:ln/>
        </p:spPr>
        <p:txBody>
          <a:bodyPr wrap="square" lIns="0" tIns="0" rIns="0" bIns="0" rtlCol="0" anchor="ctr"/>
          <a:lstStyle/>
          <a:p>
            <a:pPr marL="0" indent="0">
              <a:buNone/>
            </a:pPr>
            <a:r>
              <a:rPr lang="en-US" sz="1100" dirty="0">
                <a:solidFill>
                  <a:srgbClr val="5B6470"/>
                </a:solidFill>
                <a:latin typeface="Calibri" pitchFamily="34" charset="0"/>
                <a:ea typeface="Calibri" pitchFamily="34" charset="-122"/>
                <a:cs typeface="Calibri" pitchFamily="34" charset="-120"/>
              </a:rPr>
              <a:t>Approche quantitative et qualitative</a:t>
            </a:r>
            <a:endParaRPr lang="en-US" sz="1100" dirty="0"/>
          </a:p>
        </p:txBody>
      </p:sp>
      <p:sp>
        <p:nvSpPr>
          <p:cNvPr id="16" name="Shape 11"/>
          <p:cNvSpPr/>
          <p:nvPr/>
        </p:nvSpPr>
        <p:spPr>
          <a:xfrm>
            <a:off x="5989320" y="1691640"/>
            <a:ext cx="0" cy="4206240"/>
          </a:xfrm>
          <a:prstGeom prst="line">
            <a:avLst/>
          </a:prstGeom>
          <a:noFill/>
          <a:ln w="12700">
            <a:solidFill>
              <a:srgbClr val="DCE0E6"/>
            </a:solidFill>
            <a:prstDash val="solid"/>
          </a:ln>
        </p:spPr>
      </p:sp>
      <p:sp>
        <p:nvSpPr>
          <p:cNvPr id="17" name="Text 12"/>
          <p:cNvSpPr/>
          <p:nvPr/>
        </p:nvSpPr>
        <p:spPr>
          <a:xfrm>
            <a:off x="6355080" y="1691640"/>
            <a:ext cx="5212080" cy="365760"/>
          </a:xfrm>
          <a:prstGeom prst="rect">
            <a:avLst/>
          </a:prstGeom>
          <a:noFill/>
          <a:ln/>
        </p:spPr>
        <p:txBody>
          <a:bodyPr wrap="square" lIns="0" tIns="0" rIns="0" bIns="0" rtlCol="0" anchor="ctr"/>
          <a:lstStyle/>
          <a:p>
            <a:pPr marL="0" indent="0">
              <a:buNone/>
            </a:pPr>
            <a:r>
              <a:rPr lang="en-US" sz="1300" b="1" dirty="0">
                <a:solidFill>
                  <a:srgbClr val="1E2A45"/>
                </a:solidFill>
                <a:latin typeface="Calibri" pitchFamily="34" charset="0"/>
                <a:ea typeface="Calibri" pitchFamily="34" charset="-122"/>
                <a:cs typeface="Calibri" pitchFamily="34" charset="-120"/>
              </a:rPr>
              <a:t>Structure du questionnaire</a:t>
            </a:r>
            <a:endParaRPr lang="en-US" sz="1300" dirty="0"/>
          </a:p>
        </p:txBody>
      </p:sp>
      <p:sp>
        <p:nvSpPr>
          <p:cNvPr id="18" name="Shape 13"/>
          <p:cNvSpPr/>
          <p:nvPr/>
        </p:nvSpPr>
        <p:spPr>
          <a:xfrm>
            <a:off x="6355080" y="2286000"/>
            <a:ext cx="5212080" cy="1051560"/>
          </a:xfrm>
          <a:prstGeom prst="rect">
            <a:avLst/>
          </a:prstGeom>
          <a:solidFill>
            <a:srgbClr val="FFFFFF"/>
          </a:solidFill>
          <a:ln w="12700">
            <a:solidFill>
              <a:srgbClr val="DCE0E6"/>
            </a:solidFill>
            <a:prstDash val="solid"/>
          </a:ln>
        </p:spPr>
      </p:sp>
      <p:sp>
        <p:nvSpPr>
          <p:cNvPr id="19" name="Text 14"/>
          <p:cNvSpPr/>
          <p:nvPr/>
        </p:nvSpPr>
        <p:spPr>
          <a:xfrm>
            <a:off x="6583680" y="2450592"/>
            <a:ext cx="1005840" cy="731520"/>
          </a:xfrm>
          <a:prstGeom prst="rect">
            <a:avLst/>
          </a:prstGeom>
          <a:noFill/>
          <a:ln/>
        </p:spPr>
        <p:txBody>
          <a:bodyPr wrap="square" lIns="0" tIns="0" rIns="0" bIns="0" rtlCol="0" anchor="ctr"/>
          <a:lstStyle/>
          <a:p>
            <a:pPr marL="0" indent="0">
              <a:buNone/>
            </a:pPr>
            <a:r>
              <a:rPr lang="en-US" sz="1800" b="1" dirty="0">
                <a:solidFill>
                  <a:srgbClr val="8A92A0"/>
                </a:solidFill>
                <a:latin typeface="Cambria" pitchFamily="34" charset="0"/>
                <a:ea typeface="Cambria" pitchFamily="34" charset="-122"/>
                <a:cs typeface="Cambria" pitchFamily="34" charset="-120"/>
              </a:rPr>
              <a:t>Axe 1</a:t>
            </a:r>
            <a:endParaRPr lang="en-US" sz="1800" dirty="0"/>
          </a:p>
        </p:txBody>
      </p:sp>
      <p:sp>
        <p:nvSpPr>
          <p:cNvPr id="20" name="Text 15"/>
          <p:cNvSpPr/>
          <p:nvPr/>
        </p:nvSpPr>
        <p:spPr>
          <a:xfrm>
            <a:off x="7589520" y="2432304"/>
            <a:ext cx="3794760" cy="365760"/>
          </a:xfrm>
          <a:prstGeom prst="rect">
            <a:avLst/>
          </a:prstGeom>
          <a:noFill/>
          <a:ln/>
        </p:spPr>
        <p:txBody>
          <a:bodyPr wrap="square" lIns="0" tIns="0" rIns="0" bIns="0" rtlCol="0" anchor="ctr"/>
          <a:lstStyle/>
          <a:p>
            <a:pPr marL="0" indent="0">
              <a:buNone/>
            </a:pPr>
            <a:r>
              <a:rPr lang="en-US" sz="1300" b="1" dirty="0">
                <a:solidFill>
                  <a:srgbClr val="16203A"/>
                </a:solidFill>
                <a:latin typeface="Calibri" pitchFamily="34" charset="0"/>
                <a:ea typeface="Calibri" pitchFamily="34" charset="-122"/>
                <a:cs typeface="Calibri" pitchFamily="34" charset="-120"/>
              </a:rPr>
              <a:t>Utilisation des réseaux sociaux</a:t>
            </a:r>
            <a:endParaRPr lang="en-US" sz="1300" dirty="0"/>
          </a:p>
        </p:txBody>
      </p:sp>
      <p:sp>
        <p:nvSpPr>
          <p:cNvPr id="21" name="Text 16"/>
          <p:cNvSpPr/>
          <p:nvPr/>
        </p:nvSpPr>
        <p:spPr>
          <a:xfrm>
            <a:off x="7589520" y="2798064"/>
            <a:ext cx="3794760" cy="411480"/>
          </a:xfrm>
          <a:prstGeom prst="rect">
            <a:avLst/>
          </a:prstGeom>
          <a:noFill/>
          <a:ln/>
        </p:spPr>
        <p:txBody>
          <a:bodyPr wrap="square" lIns="0" tIns="0" rIns="0" bIns="0" rtlCol="0" anchor="ctr"/>
          <a:lstStyle/>
          <a:p>
            <a:pPr marL="0" indent="0">
              <a:buNone/>
            </a:pPr>
            <a:r>
              <a:rPr lang="en-US" sz="1100" dirty="0">
                <a:solidFill>
                  <a:srgbClr val="5B6470"/>
                </a:solidFill>
                <a:latin typeface="Calibri" pitchFamily="34" charset="0"/>
                <a:ea typeface="Calibri" pitchFamily="34" charset="-122"/>
                <a:cs typeface="Calibri" pitchFamily="34" charset="-120"/>
              </a:rPr>
              <a:t>Fréquence, plateformes, temps d'usage</a:t>
            </a:r>
            <a:endParaRPr lang="en-US" sz="1100" dirty="0"/>
          </a:p>
        </p:txBody>
      </p:sp>
      <p:sp>
        <p:nvSpPr>
          <p:cNvPr id="22" name="Shape 17"/>
          <p:cNvSpPr/>
          <p:nvPr/>
        </p:nvSpPr>
        <p:spPr>
          <a:xfrm>
            <a:off x="6355080" y="3520440"/>
            <a:ext cx="5212080" cy="1051560"/>
          </a:xfrm>
          <a:prstGeom prst="rect">
            <a:avLst/>
          </a:prstGeom>
          <a:solidFill>
            <a:srgbClr val="FFFFFF"/>
          </a:solidFill>
          <a:ln w="12700">
            <a:solidFill>
              <a:srgbClr val="DCE0E6"/>
            </a:solidFill>
            <a:prstDash val="solid"/>
          </a:ln>
        </p:spPr>
      </p:sp>
      <p:sp>
        <p:nvSpPr>
          <p:cNvPr id="23" name="Text 18"/>
          <p:cNvSpPr/>
          <p:nvPr/>
        </p:nvSpPr>
        <p:spPr>
          <a:xfrm>
            <a:off x="6583680" y="3685032"/>
            <a:ext cx="1005840" cy="731520"/>
          </a:xfrm>
          <a:prstGeom prst="rect">
            <a:avLst/>
          </a:prstGeom>
          <a:noFill/>
          <a:ln/>
        </p:spPr>
        <p:txBody>
          <a:bodyPr wrap="square" lIns="0" tIns="0" rIns="0" bIns="0" rtlCol="0" anchor="ctr"/>
          <a:lstStyle/>
          <a:p>
            <a:pPr marL="0" indent="0">
              <a:buNone/>
            </a:pPr>
            <a:r>
              <a:rPr lang="en-US" sz="1800" b="1" dirty="0">
                <a:solidFill>
                  <a:srgbClr val="8A92A0"/>
                </a:solidFill>
                <a:latin typeface="Cambria" pitchFamily="34" charset="0"/>
                <a:ea typeface="Cambria" pitchFamily="34" charset="-122"/>
                <a:cs typeface="Cambria" pitchFamily="34" charset="-120"/>
              </a:rPr>
              <a:t>Axe 2</a:t>
            </a:r>
            <a:endParaRPr lang="en-US" sz="1800" dirty="0"/>
          </a:p>
        </p:txBody>
      </p:sp>
      <p:sp>
        <p:nvSpPr>
          <p:cNvPr id="24" name="Text 19"/>
          <p:cNvSpPr/>
          <p:nvPr/>
        </p:nvSpPr>
        <p:spPr>
          <a:xfrm>
            <a:off x="7589520" y="3666744"/>
            <a:ext cx="3794760" cy="365760"/>
          </a:xfrm>
          <a:prstGeom prst="rect">
            <a:avLst/>
          </a:prstGeom>
          <a:noFill/>
          <a:ln/>
        </p:spPr>
        <p:txBody>
          <a:bodyPr wrap="square" lIns="0" tIns="0" rIns="0" bIns="0" rtlCol="0" anchor="ctr"/>
          <a:lstStyle/>
          <a:p>
            <a:pPr marL="0" indent="0">
              <a:buNone/>
            </a:pPr>
            <a:r>
              <a:rPr lang="en-US" sz="1300" b="1" dirty="0">
                <a:solidFill>
                  <a:srgbClr val="16203A"/>
                </a:solidFill>
                <a:latin typeface="Calibri" pitchFamily="34" charset="0"/>
                <a:ea typeface="Calibri" pitchFamily="34" charset="-122"/>
                <a:cs typeface="Calibri" pitchFamily="34" charset="-120"/>
              </a:rPr>
              <a:t>Impact sur la concentration</a:t>
            </a:r>
            <a:endParaRPr lang="en-US" sz="1300" dirty="0"/>
          </a:p>
        </p:txBody>
      </p:sp>
      <p:sp>
        <p:nvSpPr>
          <p:cNvPr id="25" name="Text 20"/>
          <p:cNvSpPr/>
          <p:nvPr/>
        </p:nvSpPr>
        <p:spPr>
          <a:xfrm>
            <a:off x="7589520" y="4032504"/>
            <a:ext cx="3794760" cy="411480"/>
          </a:xfrm>
          <a:prstGeom prst="rect">
            <a:avLst/>
          </a:prstGeom>
          <a:noFill/>
          <a:ln/>
        </p:spPr>
        <p:txBody>
          <a:bodyPr wrap="square" lIns="0" tIns="0" rIns="0" bIns="0" rtlCol="0" anchor="ctr"/>
          <a:lstStyle/>
          <a:p>
            <a:pPr marL="0" indent="0">
              <a:buNone/>
            </a:pPr>
            <a:r>
              <a:rPr lang="en-US" sz="1100" dirty="0">
                <a:solidFill>
                  <a:srgbClr val="5B6470"/>
                </a:solidFill>
                <a:latin typeface="Calibri" pitchFamily="34" charset="0"/>
                <a:ea typeface="Calibri" pitchFamily="34" charset="-122"/>
                <a:cs typeface="Calibri" pitchFamily="34" charset="-120"/>
              </a:rPr>
              <a:t>Baisse d'attention, comportements en classe</a:t>
            </a:r>
            <a:endParaRPr lang="en-US" sz="1100" dirty="0"/>
          </a:p>
        </p:txBody>
      </p:sp>
      <p:sp>
        <p:nvSpPr>
          <p:cNvPr id="26" name="Shape 21"/>
          <p:cNvSpPr/>
          <p:nvPr/>
        </p:nvSpPr>
        <p:spPr>
          <a:xfrm>
            <a:off x="6355080" y="4754880"/>
            <a:ext cx="5212080" cy="1051560"/>
          </a:xfrm>
          <a:prstGeom prst="rect">
            <a:avLst/>
          </a:prstGeom>
          <a:solidFill>
            <a:srgbClr val="FFFFFF"/>
          </a:solidFill>
          <a:ln w="12700">
            <a:solidFill>
              <a:srgbClr val="DCE0E6"/>
            </a:solidFill>
            <a:prstDash val="solid"/>
          </a:ln>
        </p:spPr>
      </p:sp>
      <p:sp>
        <p:nvSpPr>
          <p:cNvPr id="27" name="Text 22"/>
          <p:cNvSpPr/>
          <p:nvPr/>
        </p:nvSpPr>
        <p:spPr>
          <a:xfrm>
            <a:off x="6583680" y="4919472"/>
            <a:ext cx="1005840" cy="731520"/>
          </a:xfrm>
          <a:prstGeom prst="rect">
            <a:avLst/>
          </a:prstGeom>
          <a:noFill/>
          <a:ln/>
        </p:spPr>
        <p:txBody>
          <a:bodyPr wrap="square" lIns="0" tIns="0" rIns="0" bIns="0" rtlCol="0" anchor="ctr"/>
          <a:lstStyle/>
          <a:p>
            <a:pPr marL="0" indent="0">
              <a:buNone/>
            </a:pPr>
            <a:r>
              <a:rPr lang="en-US" sz="1800" b="1" dirty="0">
                <a:solidFill>
                  <a:srgbClr val="8A92A0"/>
                </a:solidFill>
                <a:latin typeface="Cambria" pitchFamily="34" charset="0"/>
                <a:ea typeface="Cambria" pitchFamily="34" charset="-122"/>
                <a:cs typeface="Cambria" pitchFamily="34" charset="-120"/>
              </a:rPr>
              <a:t>Axe 3</a:t>
            </a:r>
            <a:endParaRPr lang="en-US" sz="1800" dirty="0"/>
          </a:p>
        </p:txBody>
      </p:sp>
      <p:sp>
        <p:nvSpPr>
          <p:cNvPr id="28" name="Text 23"/>
          <p:cNvSpPr/>
          <p:nvPr/>
        </p:nvSpPr>
        <p:spPr>
          <a:xfrm>
            <a:off x="7589520" y="4901184"/>
            <a:ext cx="3794760" cy="365760"/>
          </a:xfrm>
          <a:prstGeom prst="rect">
            <a:avLst/>
          </a:prstGeom>
          <a:noFill/>
          <a:ln/>
        </p:spPr>
        <p:txBody>
          <a:bodyPr wrap="square" lIns="0" tIns="0" rIns="0" bIns="0" rtlCol="0" anchor="ctr"/>
          <a:lstStyle/>
          <a:p>
            <a:pPr marL="0" indent="0">
              <a:buNone/>
            </a:pPr>
            <a:r>
              <a:rPr lang="en-US" sz="1300" b="1" dirty="0">
                <a:solidFill>
                  <a:srgbClr val="16203A"/>
                </a:solidFill>
                <a:latin typeface="Calibri" pitchFamily="34" charset="0"/>
                <a:ea typeface="Calibri" pitchFamily="34" charset="-122"/>
                <a:cs typeface="Calibri" pitchFamily="34" charset="-120"/>
              </a:rPr>
              <a:t>Solutions et propositions</a:t>
            </a:r>
            <a:endParaRPr lang="en-US" sz="1300" dirty="0"/>
          </a:p>
        </p:txBody>
      </p:sp>
      <p:sp>
        <p:nvSpPr>
          <p:cNvPr id="29" name="Text 24"/>
          <p:cNvSpPr/>
          <p:nvPr/>
        </p:nvSpPr>
        <p:spPr>
          <a:xfrm>
            <a:off x="7589520" y="5266944"/>
            <a:ext cx="3794760" cy="411480"/>
          </a:xfrm>
          <a:prstGeom prst="rect">
            <a:avLst/>
          </a:prstGeom>
          <a:noFill/>
          <a:ln/>
        </p:spPr>
        <p:txBody>
          <a:bodyPr wrap="square" lIns="0" tIns="0" rIns="0" bIns="0" rtlCol="0" anchor="ctr"/>
          <a:lstStyle/>
          <a:p>
            <a:pPr marL="0" indent="0">
              <a:buNone/>
            </a:pPr>
            <a:r>
              <a:rPr lang="en-US" sz="1100" dirty="0">
                <a:solidFill>
                  <a:srgbClr val="5B6470"/>
                </a:solidFill>
                <a:latin typeface="Calibri" pitchFamily="34" charset="0"/>
                <a:ea typeface="Calibri" pitchFamily="34" charset="-122"/>
                <a:cs typeface="Calibri" pitchFamily="34" charset="-120"/>
              </a:rPr>
              <a:t>Méthodes pédagogiques, sensibilisation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292608"/>
          </a:xfrm>
          <a:prstGeom prst="rect">
            <a:avLst/>
          </a:prstGeom>
          <a:noFill/>
          <a:ln/>
        </p:spPr>
        <p:txBody>
          <a:bodyPr wrap="square" lIns="0" tIns="0" rIns="0" bIns="0" rtlCol="0" anchor="ctr"/>
          <a:lstStyle/>
          <a:p>
            <a:pPr marL="0" indent="0">
              <a:buNone/>
            </a:pPr>
            <a:r>
              <a:rPr lang="en-US" sz="1150" b="1" kern="0" spc="220" dirty="0">
                <a:solidFill>
                  <a:srgbClr val="1E2A45"/>
                </a:solidFill>
                <a:latin typeface="Calibri" pitchFamily="34" charset="0"/>
                <a:ea typeface="Calibri" pitchFamily="34" charset="-122"/>
                <a:cs typeface="Calibri" pitchFamily="34" charset="-120"/>
              </a:rPr>
              <a:t>04 — ANALYSE DES RÉSULTATS</a:t>
            </a:r>
            <a:endParaRPr lang="en-US" sz="1150" dirty="0"/>
          </a:p>
        </p:txBody>
      </p:sp>
      <p:sp>
        <p:nvSpPr>
          <p:cNvPr id="3" name="Text 1"/>
          <p:cNvSpPr/>
          <p:nvPr/>
        </p:nvSpPr>
        <p:spPr>
          <a:xfrm>
            <a:off x="640080" y="713232"/>
            <a:ext cx="10607040" cy="640080"/>
          </a:xfrm>
          <a:prstGeom prst="rect">
            <a:avLst/>
          </a:prstGeom>
          <a:noFill/>
          <a:ln/>
        </p:spPr>
        <p:txBody>
          <a:bodyPr wrap="square" lIns="0" tIns="0" rIns="0" bIns="0" rtlCol="0" anchor="ctr"/>
          <a:lstStyle/>
          <a:p>
            <a:pPr marL="0" indent="0">
              <a:buNone/>
            </a:pPr>
            <a:r>
              <a:rPr lang="en-US" sz="3000" b="1" dirty="0">
                <a:solidFill>
                  <a:srgbClr val="16203A"/>
                </a:solidFill>
                <a:latin typeface="Cambria" pitchFamily="34" charset="0"/>
                <a:ea typeface="Cambria" pitchFamily="34" charset="-122"/>
                <a:cs typeface="Cambria" pitchFamily="34" charset="-120"/>
              </a:rPr>
              <a:t>Réseaux sociaux les plus utilisés</a:t>
            </a:r>
            <a:endParaRPr lang="en-US" sz="3000" dirty="0"/>
          </a:p>
        </p:txBody>
      </p:sp>
      <p:sp>
        <p:nvSpPr>
          <p:cNvPr id="4" name="Text 2"/>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900" dirty="0">
                <a:solidFill>
                  <a:srgbClr val="8A92A0"/>
                </a:solidFill>
                <a:latin typeface="Calibri" pitchFamily="34" charset="0"/>
                <a:ea typeface="Calibri" pitchFamily="34" charset="-122"/>
                <a:cs typeface="Calibri" pitchFamily="34" charset="-120"/>
              </a:rPr>
              <a:t>07 / 13</a:t>
            </a:r>
            <a:endParaRPr lang="en-US" sz="900" dirty="0"/>
          </a:p>
        </p:txBody>
      </p:sp>
      <p:sp>
        <p:nvSpPr>
          <p:cNvPr id="5" name="Text 3"/>
          <p:cNvSpPr/>
          <p:nvPr/>
        </p:nvSpPr>
        <p:spPr>
          <a:xfrm>
            <a:off x="640080" y="6446520"/>
            <a:ext cx="6400800" cy="274320"/>
          </a:xfrm>
          <a:prstGeom prst="rect">
            <a:avLst/>
          </a:prstGeom>
          <a:noFill/>
          <a:ln/>
        </p:spPr>
        <p:txBody>
          <a:bodyPr wrap="square" lIns="0" tIns="0" rIns="0" bIns="0" rtlCol="0" anchor="ctr"/>
          <a:lstStyle/>
          <a:p>
            <a:pPr marL="0" indent="0">
              <a:buNone/>
            </a:pPr>
            <a:r>
              <a:rPr lang="en-US" sz="900" kern="0" spc="100" dirty="0">
                <a:solidFill>
                  <a:srgbClr val="8A92A0"/>
                </a:solidFill>
                <a:latin typeface="Calibri" pitchFamily="34" charset="0"/>
                <a:ea typeface="Calibri" pitchFamily="34" charset="-122"/>
                <a:cs typeface="Calibri" pitchFamily="34" charset="-120"/>
              </a:rPr>
              <a:t>PROJET PERSONNEL ENCADRÉ  •  CRMEF CASABLANCA-SETTAT</a:t>
            </a:r>
            <a:endParaRPr lang="en-US" sz="900" dirty="0"/>
          </a:p>
        </p:txBody>
      </p:sp>
      <p:sp>
        <p:nvSpPr>
          <p:cNvPr id="6" name="Text 4"/>
          <p:cNvSpPr/>
          <p:nvPr/>
        </p:nvSpPr>
        <p:spPr>
          <a:xfrm>
            <a:off x="640080" y="1417320"/>
            <a:ext cx="7315200" cy="320040"/>
          </a:xfrm>
          <a:prstGeom prst="rect">
            <a:avLst/>
          </a:prstGeom>
          <a:noFill/>
          <a:ln/>
        </p:spPr>
        <p:txBody>
          <a:bodyPr wrap="square" lIns="0" tIns="0" rIns="0" bIns="0" rtlCol="0" anchor="ctr"/>
          <a:lstStyle/>
          <a:p>
            <a:pPr marL="0" indent="0">
              <a:buNone/>
            </a:pPr>
            <a:r>
              <a:rPr lang="en-US" sz="1200" i="1" dirty="0">
                <a:solidFill>
                  <a:srgbClr val="5B6470"/>
                </a:solidFill>
                <a:latin typeface="Calibri" pitchFamily="34" charset="0"/>
                <a:ea typeface="Calibri" pitchFamily="34" charset="-122"/>
                <a:cs typeface="Calibri" pitchFamily="34" charset="-120"/>
              </a:rPr>
              <a:t>Fréquence de citation par les enseignants interrogés (sur 10)</a:t>
            </a:r>
            <a:endParaRPr lang="en-US" sz="1200" dirty="0"/>
          </a:p>
        </p:txBody>
      </p:sp>
      <p:graphicFrame>
        <p:nvGraphicFramePr>
          <p:cNvPr id="7" name="Chart 0"/>
          <p:cNvGraphicFramePr/>
          <p:nvPr/>
        </p:nvGraphicFramePr>
        <p:xfrm>
          <a:off x="502920" y="1783080"/>
          <a:ext cx="69494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818120" y="1783080"/>
            <a:ext cx="3703320" cy="1188720"/>
          </a:xfrm>
          <a:prstGeom prst="rect">
            <a:avLst/>
          </a:prstGeom>
          <a:solidFill>
            <a:srgbClr val="F7F8FA"/>
          </a:solidFill>
          <a:ln w="12700">
            <a:solidFill>
              <a:srgbClr val="DCE0E6"/>
            </a:solidFill>
            <a:prstDash val="solid"/>
          </a:ln>
        </p:spPr>
      </p:sp>
      <p:sp>
        <p:nvSpPr>
          <p:cNvPr id="9" name="Text 6"/>
          <p:cNvSpPr/>
          <p:nvPr/>
        </p:nvSpPr>
        <p:spPr>
          <a:xfrm>
            <a:off x="8092440" y="1920240"/>
            <a:ext cx="1463040" cy="914400"/>
          </a:xfrm>
          <a:prstGeom prst="rect">
            <a:avLst/>
          </a:prstGeom>
          <a:noFill/>
          <a:ln/>
        </p:spPr>
        <p:txBody>
          <a:bodyPr wrap="square" lIns="0" tIns="0" rIns="0" bIns="0" rtlCol="0" anchor="ctr"/>
          <a:lstStyle/>
          <a:p>
            <a:pPr marL="0" indent="0">
              <a:buNone/>
            </a:pPr>
            <a:r>
              <a:rPr lang="en-US" sz="2600" b="1" dirty="0">
                <a:solidFill>
                  <a:srgbClr val="16203A"/>
                </a:solidFill>
                <a:latin typeface="Cambria" pitchFamily="34" charset="0"/>
                <a:ea typeface="Cambria" pitchFamily="34" charset="-122"/>
                <a:cs typeface="Cambria" pitchFamily="34" charset="-120"/>
              </a:rPr>
              <a:t>100%</a:t>
            </a:r>
            <a:endParaRPr lang="en-US" sz="2600" dirty="0"/>
          </a:p>
        </p:txBody>
      </p:sp>
      <p:sp>
        <p:nvSpPr>
          <p:cNvPr id="10" name="Text 7"/>
          <p:cNvSpPr/>
          <p:nvPr/>
        </p:nvSpPr>
        <p:spPr>
          <a:xfrm>
            <a:off x="9509760" y="1920240"/>
            <a:ext cx="1783080" cy="914400"/>
          </a:xfrm>
          <a:prstGeom prst="rect">
            <a:avLst/>
          </a:prstGeom>
          <a:noFill/>
          <a:ln/>
        </p:spPr>
        <p:txBody>
          <a:bodyPr wrap="square" lIns="0" tIns="0" rIns="0" bIns="0" rtlCol="0" anchor="ctr"/>
          <a:lstStyle/>
          <a:p>
            <a:pPr marL="0" indent="0">
              <a:lnSpc>
                <a:spcPct val="120000"/>
              </a:lnSpc>
              <a:buNone/>
            </a:pPr>
            <a:r>
              <a:rPr lang="en-US" sz="1150" dirty="0">
                <a:solidFill>
                  <a:srgbClr val="5B6470"/>
                </a:solidFill>
                <a:latin typeface="Calibri" pitchFamily="34" charset="0"/>
                <a:ea typeface="Calibri" pitchFamily="34" charset="-122"/>
                <a:cs typeface="Calibri" pitchFamily="34" charset="-120"/>
              </a:rPr>
              <a:t>observent une baisse de concentration</a:t>
            </a:r>
            <a:endParaRPr lang="en-US" sz="1150" dirty="0"/>
          </a:p>
        </p:txBody>
      </p:sp>
      <p:sp>
        <p:nvSpPr>
          <p:cNvPr id="11" name="Shape 8"/>
          <p:cNvSpPr/>
          <p:nvPr/>
        </p:nvSpPr>
        <p:spPr>
          <a:xfrm>
            <a:off x="7818120" y="3154680"/>
            <a:ext cx="3703320" cy="1188720"/>
          </a:xfrm>
          <a:prstGeom prst="rect">
            <a:avLst/>
          </a:prstGeom>
          <a:solidFill>
            <a:srgbClr val="F7F8FA"/>
          </a:solidFill>
          <a:ln w="12700">
            <a:solidFill>
              <a:srgbClr val="DCE0E6"/>
            </a:solidFill>
            <a:prstDash val="solid"/>
          </a:ln>
        </p:spPr>
      </p:sp>
      <p:sp>
        <p:nvSpPr>
          <p:cNvPr id="12" name="Text 9"/>
          <p:cNvSpPr/>
          <p:nvPr/>
        </p:nvSpPr>
        <p:spPr>
          <a:xfrm>
            <a:off x="8092440" y="3291840"/>
            <a:ext cx="1463040" cy="914400"/>
          </a:xfrm>
          <a:prstGeom prst="rect">
            <a:avLst/>
          </a:prstGeom>
          <a:noFill/>
          <a:ln/>
        </p:spPr>
        <p:txBody>
          <a:bodyPr wrap="square" lIns="0" tIns="0" rIns="0" bIns="0" rtlCol="0" anchor="ctr"/>
          <a:lstStyle/>
          <a:p>
            <a:pPr marL="0" indent="0">
              <a:buNone/>
            </a:pPr>
            <a:r>
              <a:rPr lang="en-US" sz="2600" b="1" dirty="0">
                <a:solidFill>
                  <a:srgbClr val="16203A"/>
                </a:solidFill>
                <a:latin typeface="Cambria" pitchFamily="34" charset="0"/>
                <a:ea typeface="Cambria" pitchFamily="34" charset="-122"/>
                <a:cs typeface="Cambria" pitchFamily="34" charset="-120"/>
              </a:rPr>
              <a:t>80%</a:t>
            </a:r>
            <a:endParaRPr lang="en-US" sz="2600" dirty="0"/>
          </a:p>
        </p:txBody>
      </p:sp>
      <p:sp>
        <p:nvSpPr>
          <p:cNvPr id="13" name="Text 10"/>
          <p:cNvSpPr/>
          <p:nvPr/>
        </p:nvSpPr>
        <p:spPr>
          <a:xfrm>
            <a:off x="9509760" y="3291840"/>
            <a:ext cx="1783080" cy="914400"/>
          </a:xfrm>
          <a:prstGeom prst="rect">
            <a:avLst/>
          </a:prstGeom>
          <a:noFill/>
          <a:ln/>
        </p:spPr>
        <p:txBody>
          <a:bodyPr wrap="square" lIns="0" tIns="0" rIns="0" bIns="0" rtlCol="0" anchor="ctr"/>
          <a:lstStyle/>
          <a:p>
            <a:pPr marL="0" indent="0">
              <a:lnSpc>
                <a:spcPct val="120000"/>
              </a:lnSpc>
              <a:buNone/>
            </a:pPr>
            <a:r>
              <a:rPr lang="en-US" sz="1150" dirty="0">
                <a:solidFill>
                  <a:srgbClr val="5B6470"/>
                </a:solidFill>
                <a:latin typeface="Calibri" pitchFamily="34" charset="0"/>
                <a:ea typeface="Calibri" pitchFamily="34" charset="-122"/>
                <a:cs typeface="Calibri" pitchFamily="34" charset="-120"/>
              </a:rPr>
              <a:t>des élèves utilisent les RS très souvent</a:t>
            </a:r>
            <a:endParaRPr lang="en-US" sz="1150" dirty="0"/>
          </a:p>
        </p:txBody>
      </p:sp>
      <p:sp>
        <p:nvSpPr>
          <p:cNvPr id="14" name="Shape 11"/>
          <p:cNvSpPr/>
          <p:nvPr/>
        </p:nvSpPr>
        <p:spPr>
          <a:xfrm>
            <a:off x="7818120" y="4526280"/>
            <a:ext cx="3703320" cy="1188720"/>
          </a:xfrm>
          <a:prstGeom prst="rect">
            <a:avLst/>
          </a:prstGeom>
          <a:solidFill>
            <a:srgbClr val="F7F8FA"/>
          </a:solidFill>
          <a:ln w="12700">
            <a:solidFill>
              <a:srgbClr val="DCE0E6"/>
            </a:solidFill>
            <a:prstDash val="solid"/>
          </a:ln>
        </p:spPr>
      </p:sp>
      <p:sp>
        <p:nvSpPr>
          <p:cNvPr id="15" name="Text 12"/>
          <p:cNvSpPr/>
          <p:nvPr/>
        </p:nvSpPr>
        <p:spPr>
          <a:xfrm>
            <a:off x="8092440" y="4663440"/>
            <a:ext cx="1463040" cy="914400"/>
          </a:xfrm>
          <a:prstGeom prst="rect">
            <a:avLst/>
          </a:prstGeom>
          <a:noFill/>
          <a:ln/>
        </p:spPr>
        <p:txBody>
          <a:bodyPr wrap="square" lIns="0" tIns="0" rIns="0" bIns="0" rtlCol="0" anchor="ctr"/>
          <a:lstStyle/>
          <a:p>
            <a:pPr marL="0" indent="0">
              <a:buNone/>
            </a:pPr>
            <a:r>
              <a:rPr lang="en-US" sz="2600" b="1" dirty="0">
                <a:solidFill>
                  <a:srgbClr val="16203A"/>
                </a:solidFill>
                <a:latin typeface="Cambria" pitchFamily="34" charset="0"/>
                <a:ea typeface="Cambria" pitchFamily="34" charset="-122"/>
                <a:cs typeface="Cambria" pitchFamily="34" charset="-120"/>
              </a:rPr>
              <a:t>90%+</a:t>
            </a:r>
            <a:endParaRPr lang="en-US" sz="2600" dirty="0"/>
          </a:p>
        </p:txBody>
      </p:sp>
      <p:sp>
        <p:nvSpPr>
          <p:cNvPr id="16" name="Text 13"/>
          <p:cNvSpPr/>
          <p:nvPr/>
        </p:nvSpPr>
        <p:spPr>
          <a:xfrm>
            <a:off x="9509760" y="4663440"/>
            <a:ext cx="1783080" cy="914400"/>
          </a:xfrm>
          <a:prstGeom prst="rect">
            <a:avLst/>
          </a:prstGeom>
          <a:noFill/>
          <a:ln/>
        </p:spPr>
        <p:txBody>
          <a:bodyPr wrap="square" lIns="0" tIns="0" rIns="0" bIns="0" rtlCol="0" anchor="ctr"/>
          <a:lstStyle/>
          <a:p>
            <a:pPr marL="0" indent="0">
              <a:lnSpc>
                <a:spcPct val="120000"/>
              </a:lnSpc>
              <a:buNone/>
            </a:pPr>
            <a:r>
              <a:rPr lang="en-US" sz="1150" dirty="0">
                <a:solidFill>
                  <a:srgbClr val="5B6470"/>
                </a:solidFill>
                <a:latin typeface="Calibri" pitchFamily="34" charset="0"/>
                <a:ea typeface="Calibri" pitchFamily="34" charset="-122"/>
                <a:cs typeface="Calibri" pitchFamily="34" charset="-120"/>
              </a:rPr>
              <a:t>signalent distraction et fatigue cognitive</a:t>
            </a:r>
            <a:endParaRPr lang="en-US" sz="1150" dirty="0"/>
          </a:p>
        </p:txBody>
      </p:sp>
      <p:sp>
        <p:nvSpPr>
          <p:cNvPr id="17" name="Text 14"/>
          <p:cNvSpPr/>
          <p:nvPr/>
        </p:nvSpPr>
        <p:spPr>
          <a:xfrm>
            <a:off x="502920" y="5989320"/>
            <a:ext cx="6949440" cy="365760"/>
          </a:xfrm>
          <a:prstGeom prst="rect">
            <a:avLst/>
          </a:prstGeom>
          <a:noFill/>
          <a:ln/>
        </p:spPr>
        <p:txBody>
          <a:bodyPr wrap="square" lIns="0" tIns="0" rIns="0" bIns="0" rtlCol="0" anchor="ctr"/>
          <a:lstStyle/>
          <a:p>
            <a:pPr marL="0" indent="0">
              <a:lnSpc>
                <a:spcPct val="120000"/>
              </a:lnSpc>
              <a:buNone/>
            </a:pPr>
            <a:r>
              <a:rPr lang="en-US" sz="1100" i="1" dirty="0">
                <a:solidFill>
                  <a:srgbClr val="1E2A45"/>
                </a:solidFill>
                <a:latin typeface="Calibri" pitchFamily="34" charset="0"/>
                <a:ea typeface="Calibri" pitchFamily="34" charset="-122"/>
                <a:cs typeface="Calibri" pitchFamily="34" charset="-120"/>
              </a:rPr>
              <a:t>TikTok et WhatsApp dominent les usages des collégiens marocains.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292608"/>
          </a:xfrm>
          <a:prstGeom prst="rect">
            <a:avLst/>
          </a:prstGeom>
          <a:noFill/>
          <a:ln/>
        </p:spPr>
        <p:txBody>
          <a:bodyPr wrap="square" lIns="0" tIns="0" rIns="0" bIns="0" rtlCol="0" anchor="ctr"/>
          <a:lstStyle/>
          <a:p>
            <a:pPr marL="0" indent="0">
              <a:buNone/>
            </a:pPr>
            <a:r>
              <a:rPr lang="en-US" sz="1150" b="1" kern="0" spc="220" dirty="0">
                <a:solidFill>
                  <a:srgbClr val="1E2A45"/>
                </a:solidFill>
                <a:latin typeface="Calibri" pitchFamily="34" charset="0"/>
                <a:ea typeface="Calibri" pitchFamily="34" charset="-122"/>
                <a:cs typeface="Calibri" pitchFamily="34" charset="-120"/>
              </a:rPr>
              <a:t>04 — ANALYSE DES RÉSULTATS</a:t>
            </a:r>
            <a:endParaRPr lang="en-US" sz="1150" dirty="0"/>
          </a:p>
        </p:txBody>
      </p:sp>
      <p:sp>
        <p:nvSpPr>
          <p:cNvPr id="3" name="Text 1"/>
          <p:cNvSpPr/>
          <p:nvPr/>
        </p:nvSpPr>
        <p:spPr>
          <a:xfrm>
            <a:off x="640080" y="713232"/>
            <a:ext cx="10607040" cy="640080"/>
          </a:xfrm>
          <a:prstGeom prst="rect">
            <a:avLst/>
          </a:prstGeom>
          <a:noFill/>
          <a:ln/>
        </p:spPr>
        <p:txBody>
          <a:bodyPr wrap="square" lIns="0" tIns="0" rIns="0" bIns="0" rtlCol="0" anchor="ctr"/>
          <a:lstStyle/>
          <a:p>
            <a:pPr marL="0" indent="0">
              <a:buNone/>
            </a:pPr>
            <a:r>
              <a:rPr lang="en-US" sz="3000" b="1" dirty="0">
                <a:solidFill>
                  <a:srgbClr val="16203A"/>
                </a:solidFill>
                <a:latin typeface="Cambria" pitchFamily="34" charset="0"/>
                <a:ea typeface="Cambria" pitchFamily="34" charset="-122"/>
                <a:cs typeface="Cambria" pitchFamily="34" charset="-120"/>
              </a:rPr>
              <a:t>Comportements observés et impact scolaire</a:t>
            </a:r>
            <a:endParaRPr lang="en-US" sz="3000" dirty="0"/>
          </a:p>
        </p:txBody>
      </p:sp>
      <p:sp>
        <p:nvSpPr>
          <p:cNvPr id="4" name="Text 2"/>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900" dirty="0">
                <a:solidFill>
                  <a:srgbClr val="8A92A0"/>
                </a:solidFill>
                <a:latin typeface="Calibri" pitchFamily="34" charset="0"/>
                <a:ea typeface="Calibri" pitchFamily="34" charset="-122"/>
                <a:cs typeface="Calibri" pitchFamily="34" charset="-120"/>
              </a:rPr>
              <a:t>08 / 13</a:t>
            </a:r>
            <a:endParaRPr lang="en-US" sz="900" dirty="0"/>
          </a:p>
        </p:txBody>
      </p:sp>
      <p:sp>
        <p:nvSpPr>
          <p:cNvPr id="5" name="Text 3"/>
          <p:cNvSpPr/>
          <p:nvPr/>
        </p:nvSpPr>
        <p:spPr>
          <a:xfrm>
            <a:off x="640080" y="6446520"/>
            <a:ext cx="6400800" cy="274320"/>
          </a:xfrm>
          <a:prstGeom prst="rect">
            <a:avLst/>
          </a:prstGeom>
          <a:noFill/>
          <a:ln/>
        </p:spPr>
        <p:txBody>
          <a:bodyPr wrap="square" lIns="0" tIns="0" rIns="0" bIns="0" rtlCol="0" anchor="ctr"/>
          <a:lstStyle/>
          <a:p>
            <a:pPr marL="0" indent="0">
              <a:buNone/>
            </a:pPr>
            <a:r>
              <a:rPr lang="en-US" sz="900" kern="0" spc="100" dirty="0">
                <a:solidFill>
                  <a:srgbClr val="8A92A0"/>
                </a:solidFill>
                <a:latin typeface="Calibri" pitchFamily="34" charset="0"/>
                <a:ea typeface="Calibri" pitchFamily="34" charset="-122"/>
                <a:cs typeface="Calibri" pitchFamily="34" charset="-120"/>
              </a:rPr>
              <a:t>PROJET PERSONNEL ENCADRÉ  •  CRMEF CASABLANCA-SETTAT</a:t>
            </a:r>
            <a:endParaRPr lang="en-US" sz="900" dirty="0"/>
          </a:p>
        </p:txBody>
      </p:sp>
      <p:sp>
        <p:nvSpPr>
          <p:cNvPr id="6" name="Text 4"/>
          <p:cNvSpPr/>
          <p:nvPr/>
        </p:nvSpPr>
        <p:spPr>
          <a:xfrm>
            <a:off x="640080" y="1691640"/>
            <a:ext cx="5120640" cy="365760"/>
          </a:xfrm>
          <a:prstGeom prst="rect">
            <a:avLst/>
          </a:prstGeom>
          <a:noFill/>
          <a:ln/>
        </p:spPr>
        <p:txBody>
          <a:bodyPr wrap="square" lIns="0" tIns="0" rIns="0" bIns="0" rtlCol="0" anchor="ctr"/>
          <a:lstStyle/>
          <a:p>
            <a:pPr marL="0" indent="0">
              <a:buNone/>
            </a:pPr>
            <a:r>
              <a:rPr lang="en-US" sz="1300" b="1" dirty="0">
                <a:solidFill>
                  <a:srgbClr val="1E2A45"/>
                </a:solidFill>
                <a:latin typeface="Calibri" pitchFamily="34" charset="0"/>
                <a:ea typeface="Calibri" pitchFamily="34" charset="-122"/>
                <a:cs typeface="Calibri" pitchFamily="34" charset="-120"/>
              </a:rPr>
              <a:t>Comportements relevés en classe</a:t>
            </a:r>
            <a:endParaRPr lang="en-US" sz="1300" dirty="0"/>
          </a:p>
        </p:txBody>
      </p:sp>
      <p:sp>
        <p:nvSpPr>
          <p:cNvPr id="7" name="Text 5"/>
          <p:cNvSpPr/>
          <p:nvPr/>
        </p:nvSpPr>
        <p:spPr>
          <a:xfrm>
            <a:off x="640080" y="2148840"/>
            <a:ext cx="5120640" cy="2011680"/>
          </a:xfrm>
          <a:prstGeom prst="rect">
            <a:avLst/>
          </a:prstGeom>
          <a:noFill/>
          <a:ln/>
        </p:spPr>
        <p:txBody>
          <a:bodyPr wrap="square" lIns="0" tIns="0" rIns="0" bIns="0" rtlCol="0" anchor="ctr"/>
          <a:lstStyle/>
          <a:p>
            <a:pPr marL="177800" indent="-177800">
              <a:lnSpc>
                <a:spcPct val="150000"/>
              </a:lnSpc>
              <a:spcAft>
                <a:spcPts val="1000"/>
              </a:spcAft>
              <a:buSzPct val="100000"/>
              <a:buChar char="•"/>
            </a:pPr>
            <a:r>
              <a:rPr lang="en-US" sz="1300" dirty="0">
                <a:solidFill>
                  <a:srgbClr val="16203A"/>
                </a:solidFill>
                <a:latin typeface="Calibri" pitchFamily="34" charset="0"/>
                <a:ea typeface="Calibri" pitchFamily="34" charset="-122"/>
                <a:cs typeface="Calibri" pitchFamily="34" charset="-120"/>
              </a:rPr>
              <a:t>Distraction fréquente</a:t>
            </a:r>
            <a:endParaRPr lang="en-US" sz="1300" dirty="0"/>
          </a:p>
          <a:p>
            <a:pPr marL="177800" indent="-177800">
              <a:lnSpc>
                <a:spcPct val="150000"/>
              </a:lnSpc>
              <a:spcAft>
                <a:spcPts val="1000"/>
              </a:spcAft>
              <a:buSzPct val="100000"/>
              <a:buChar char="•"/>
            </a:pPr>
            <a:r>
              <a:rPr lang="en-US" sz="1300" dirty="0">
                <a:solidFill>
                  <a:srgbClr val="16203A"/>
                </a:solidFill>
                <a:latin typeface="Calibri" pitchFamily="34" charset="0"/>
                <a:ea typeface="Calibri" pitchFamily="34" charset="-122"/>
                <a:cs typeface="Calibri" pitchFamily="34" charset="-120"/>
              </a:rPr>
              <a:t>Manque d'attention prolongée</a:t>
            </a:r>
            <a:endParaRPr lang="en-US" sz="1300" dirty="0"/>
          </a:p>
          <a:p>
            <a:pPr marL="177800" indent="-177800">
              <a:lnSpc>
                <a:spcPct val="150000"/>
              </a:lnSpc>
              <a:spcAft>
                <a:spcPts val="1000"/>
              </a:spcAft>
              <a:buSzPct val="100000"/>
              <a:buChar char="•"/>
            </a:pPr>
            <a:r>
              <a:rPr lang="en-US" sz="1300" dirty="0">
                <a:solidFill>
                  <a:srgbClr val="16203A"/>
                </a:solidFill>
                <a:latin typeface="Calibri" pitchFamily="34" charset="0"/>
                <a:ea typeface="Calibri" pitchFamily="34" charset="-122"/>
                <a:cs typeface="Calibri" pitchFamily="34" charset="-120"/>
              </a:rPr>
              <a:t>Fatigue cognitive</a:t>
            </a:r>
            <a:endParaRPr lang="en-US" sz="1300" dirty="0"/>
          </a:p>
          <a:p>
            <a:pPr marL="177800" indent="-177800">
              <a:lnSpc>
                <a:spcPct val="150000"/>
              </a:lnSpc>
              <a:spcAft>
                <a:spcPts val="1000"/>
              </a:spcAft>
              <a:buSzPct val="100000"/>
              <a:buChar char="•"/>
            </a:pPr>
            <a:r>
              <a:rPr lang="en-US" sz="1300" dirty="0">
                <a:solidFill>
                  <a:srgbClr val="16203A"/>
                </a:solidFill>
                <a:latin typeface="Calibri" pitchFamily="34" charset="0"/>
                <a:ea typeface="Calibri" pitchFamily="34" charset="-122"/>
                <a:cs typeface="Calibri" pitchFamily="34" charset="-120"/>
              </a:rPr>
              <a:t>Participation faible</a:t>
            </a:r>
            <a:endParaRPr lang="en-US" sz="1300" dirty="0"/>
          </a:p>
          <a:p>
            <a:pPr marL="177800" indent="-177800">
              <a:lnSpc>
                <a:spcPct val="150000"/>
              </a:lnSpc>
              <a:spcAft>
                <a:spcPts val="1000"/>
              </a:spcAft>
              <a:buSzPct val="100000"/>
              <a:buChar char="•"/>
            </a:pPr>
            <a:r>
              <a:rPr lang="en-US" sz="1300" dirty="0">
                <a:solidFill>
                  <a:srgbClr val="16203A"/>
                </a:solidFill>
                <a:latin typeface="Calibri" pitchFamily="34" charset="0"/>
                <a:ea typeface="Calibri" pitchFamily="34" charset="-122"/>
                <a:cs typeface="Calibri" pitchFamily="34" charset="-120"/>
              </a:rPr>
              <a:t>Difficultés de mémorisation</a:t>
            </a:r>
            <a:endParaRPr lang="en-US" sz="1300" dirty="0"/>
          </a:p>
        </p:txBody>
      </p:sp>
      <p:sp>
        <p:nvSpPr>
          <p:cNvPr id="8" name="Shape 6"/>
          <p:cNvSpPr/>
          <p:nvPr/>
        </p:nvSpPr>
        <p:spPr>
          <a:xfrm>
            <a:off x="5989320" y="1691640"/>
            <a:ext cx="0" cy="4251960"/>
          </a:xfrm>
          <a:prstGeom prst="line">
            <a:avLst/>
          </a:prstGeom>
          <a:noFill/>
          <a:ln w="12700">
            <a:solidFill>
              <a:srgbClr val="DCE0E6"/>
            </a:solidFill>
            <a:prstDash val="solid"/>
          </a:ln>
        </p:spPr>
      </p:sp>
      <p:sp>
        <p:nvSpPr>
          <p:cNvPr id="9" name="Text 7"/>
          <p:cNvSpPr/>
          <p:nvPr/>
        </p:nvSpPr>
        <p:spPr>
          <a:xfrm>
            <a:off x="6355080" y="1691640"/>
            <a:ext cx="5212080" cy="365760"/>
          </a:xfrm>
          <a:prstGeom prst="rect">
            <a:avLst/>
          </a:prstGeom>
          <a:noFill/>
          <a:ln/>
        </p:spPr>
        <p:txBody>
          <a:bodyPr wrap="square" lIns="0" tIns="0" rIns="0" bIns="0" rtlCol="0" anchor="ctr"/>
          <a:lstStyle/>
          <a:p>
            <a:pPr marL="0" indent="0">
              <a:buNone/>
            </a:pPr>
            <a:r>
              <a:rPr lang="en-US" sz="1300" b="1" dirty="0">
                <a:solidFill>
                  <a:srgbClr val="1E2A45"/>
                </a:solidFill>
                <a:latin typeface="Calibri" pitchFamily="34" charset="0"/>
                <a:ea typeface="Calibri" pitchFamily="34" charset="-122"/>
                <a:cs typeface="Calibri" pitchFamily="34" charset="-120"/>
              </a:rPr>
              <a:t>Conséquences sur les apprentissages</a:t>
            </a:r>
            <a:endParaRPr lang="en-US" sz="1300" dirty="0"/>
          </a:p>
        </p:txBody>
      </p:sp>
      <p:sp>
        <p:nvSpPr>
          <p:cNvPr id="10" name="Shape 8"/>
          <p:cNvSpPr/>
          <p:nvPr/>
        </p:nvSpPr>
        <p:spPr>
          <a:xfrm>
            <a:off x="6355080" y="2194560"/>
            <a:ext cx="5212080" cy="777240"/>
          </a:xfrm>
          <a:prstGeom prst="rect">
            <a:avLst/>
          </a:prstGeom>
          <a:solidFill>
            <a:srgbClr val="F7F8FA"/>
          </a:solidFill>
          <a:ln w="12700">
            <a:solidFill>
              <a:srgbClr val="DCE0E6"/>
            </a:solidFill>
            <a:prstDash val="solid"/>
          </a:ln>
        </p:spPr>
      </p:sp>
      <p:pic>
        <p:nvPicPr>
          <p:cNvPr id="11" name="Image 0" descr="icons/arrow_navy.png"/>
          <p:cNvPicPr>
            <a:picLocks noChangeAspect="1"/>
          </p:cNvPicPr>
          <p:nvPr/>
        </p:nvPicPr>
        <p:blipFill>
          <a:blip r:embed="rId3"/>
          <a:stretch>
            <a:fillRect/>
          </a:stretch>
        </p:blipFill>
        <p:spPr>
          <a:xfrm>
            <a:off x="6583680" y="2468880"/>
            <a:ext cx="228600" cy="228600"/>
          </a:xfrm>
          <a:prstGeom prst="rect">
            <a:avLst/>
          </a:prstGeom>
        </p:spPr>
      </p:pic>
      <p:sp>
        <p:nvSpPr>
          <p:cNvPr id="12" name="Text 9"/>
          <p:cNvSpPr/>
          <p:nvPr/>
        </p:nvSpPr>
        <p:spPr>
          <a:xfrm>
            <a:off x="6995160" y="2194560"/>
            <a:ext cx="4434840" cy="777240"/>
          </a:xfrm>
          <a:prstGeom prst="rect">
            <a:avLst/>
          </a:prstGeom>
          <a:noFill/>
          <a:ln/>
        </p:spPr>
        <p:txBody>
          <a:bodyPr wrap="square" lIns="0" tIns="0" rIns="0" bIns="0" rtlCol="0" anchor="ctr"/>
          <a:lstStyle/>
          <a:p>
            <a:pPr marL="0" indent="0">
              <a:buNone/>
            </a:pPr>
            <a:r>
              <a:rPr lang="en-US" sz="1250" dirty="0">
                <a:solidFill>
                  <a:srgbClr val="16203A"/>
                </a:solidFill>
                <a:latin typeface="Calibri" pitchFamily="34" charset="0"/>
                <a:ea typeface="Calibri" pitchFamily="34" charset="-122"/>
                <a:cs typeface="Calibri" pitchFamily="34" charset="-120"/>
              </a:rPr>
              <a:t>Baisse du rendement scolaire</a:t>
            </a:r>
            <a:endParaRPr lang="en-US" sz="1250" dirty="0"/>
          </a:p>
        </p:txBody>
      </p:sp>
      <p:sp>
        <p:nvSpPr>
          <p:cNvPr id="13" name="Shape 10"/>
          <p:cNvSpPr/>
          <p:nvPr/>
        </p:nvSpPr>
        <p:spPr>
          <a:xfrm>
            <a:off x="6355080" y="3108960"/>
            <a:ext cx="5212080" cy="777240"/>
          </a:xfrm>
          <a:prstGeom prst="rect">
            <a:avLst/>
          </a:prstGeom>
          <a:solidFill>
            <a:srgbClr val="F7F8FA"/>
          </a:solidFill>
          <a:ln w="12700">
            <a:solidFill>
              <a:srgbClr val="DCE0E6"/>
            </a:solidFill>
            <a:prstDash val="solid"/>
          </a:ln>
        </p:spPr>
      </p:sp>
      <p:pic>
        <p:nvPicPr>
          <p:cNvPr id="14" name="Image 1" descr="icons/arrow_navy.png"/>
          <p:cNvPicPr>
            <a:picLocks noChangeAspect="1"/>
          </p:cNvPicPr>
          <p:nvPr/>
        </p:nvPicPr>
        <p:blipFill>
          <a:blip r:embed="rId3"/>
          <a:stretch>
            <a:fillRect/>
          </a:stretch>
        </p:blipFill>
        <p:spPr>
          <a:xfrm>
            <a:off x="6583680" y="3383280"/>
            <a:ext cx="228600" cy="228600"/>
          </a:xfrm>
          <a:prstGeom prst="rect">
            <a:avLst/>
          </a:prstGeom>
        </p:spPr>
      </p:pic>
      <p:sp>
        <p:nvSpPr>
          <p:cNvPr id="15" name="Text 11"/>
          <p:cNvSpPr/>
          <p:nvPr/>
        </p:nvSpPr>
        <p:spPr>
          <a:xfrm>
            <a:off x="6995160" y="3108960"/>
            <a:ext cx="4434840" cy="777240"/>
          </a:xfrm>
          <a:prstGeom prst="rect">
            <a:avLst/>
          </a:prstGeom>
          <a:noFill/>
          <a:ln/>
        </p:spPr>
        <p:txBody>
          <a:bodyPr wrap="square" lIns="0" tIns="0" rIns="0" bIns="0" rtlCol="0" anchor="ctr"/>
          <a:lstStyle/>
          <a:p>
            <a:pPr marL="0" indent="0">
              <a:buNone/>
            </a:pPr>
            <a:r>
              <a:rPr lang="en-US" sz="1250" dirty="0">
                <a:solidFill>
                  <a:srgbClr val="16203A"/>
                </a:solidFill>
                <a:latin typeface="Calibri" pitchFamily="34" charset="0"/>
                <a:ea typeface="Calibri" pitchFamily="34" charset="-122"/>
                <a:cs typeface="Calibri" pitchFamily="34" charset="-120"/>
              </a:rPr>
              <a:t>Diminution du temps consacré aux révisions</a:t>
            </a:r>
            <a:endParaRPr lang="en-US" sz="1250" dirty="0"/>
          </a:p>
        </p:txBody>
      </p:sp>
      <p:sp>
        <p:nvSpPr>
          <p:cNvPr id="16" name="Shape 12"/>
          <p:cNvSpPr/>
          <p:nvPr/>
        </p:nvSpPr>
        <p:spPr>
          <a:xfrm>
            <a:off x="6355080" y="4023360"/>
            <a:ext cx="5212080" cy="777240"/>
          </a:xfrm>
          <a:prstGeom prst="rect">
            <a:avLst/>
          </a:prstGeom>
          <a:solidFill>
            <a:srgbClr val="F7F8FA"/>
          </a:solidFill>
          <a:ln w="12700">
            <a:solidFill>
              <a:srgbClr val="DCE0E6"/>
            </a:solidFill>
            <a:prstDash val="solid"/>
          </a:ln>
        </p:spPr>
      </p:sp>
      <p:pic>
        <p:nvPicPr>
          <p:cNvPr id="17" name="Image 2" descr="icons/arrow_navy.png"/>
          <p:cNvPicPr>
            <a:picLocks noChangeAspect="1"/>
          </p:cNvPicPr>
          <p:nvPr/>
        </p:nvPicPr>
        <p:blipFill>
          <a:blip r:embed="rId3"/>
          <a:stretch>
            <a:fillRect/>
          </a:stretch>
        </p:blipFill>
        <p:spPr>
          <a:xfrm>
            <a:off x="6583680" y="4297680"/>
            <a:ext cx="228600" cy="228600"/>
          </a:xfrm>
          <a:prstGeom prst="rect">
            <a:avLst/>
          </a:prstGeom>
        </p:spPr>
      </p:pic>
      <p:sp>
        <p:nvSpPr>
          <p:cNvPr id="18" name="Text 13"/>
          <p:cNvSpPr/>
          <p:nvPr/>
        </p:nvSpPr>
        <p:spPr>
          <a:xfrm>
            <a:off x="6995160" y="4023360"/>
            <a:ext cx="4434840" cy="777240"/>
          </a:xfrm>
          <a:prstGeom prst="rect">
            <a:avLst/>
          </a:prstGeom>
          <a:noFill/>
          <a:ln/>
        </p:spPr>
        <p:txBody>
          <a:bodyPr wrap="square" lIns="0" tIns="0" rIns="0" bIns="0" rtlCol="0" anchor="ctr"/>
          <a:lstStyle/>
          <a:p>
            <a:pPr marL="0" indent="0">
              <a:buNone/>
            </a:pPr>
            <a:r>
              <a:rPr lang="en-US" sz="1250" dirty="0">
                <a:solidFill>
                  <a:srgbClr val="16203A"/>
                </a:solidFill>
                <a:latin typeface="Calibri" pitchFamily="34" charset="0"/>
                <a:ea typeface="Calibri" pitchFamily="34" charset="-122"/>
                <a:cs typeface="Calibri" pitchFamily="34" charset="-120"/>
              </a:rPr>
              <a:t>Réduction de la participation en classe</a:t>
            </a:r>
            <a:endParaRPr lang="en-US" sz="1250" dirty="0"/>
          </a:p>
        </p:txBody>
      </p:sp>
      <p:sp>
        <p:nvSpPr>
          <p:cNvPr id="19" name="Shape 14"/>
          <p:cNvSpPr/>
          <p:nvPr/>
        </p:nvSpPr>
        <p:spPr>
          <a:xfrm>
            <a:off x="6355080" y="4937760"/>
            <a:ext cx="5212080" cy="777240"/>
          </a:xfrm>
          <a:prstGeom prst="rect">
            <a:avLst/>
          </a:prstGeom>
          <a:solidFill>
            <a:srgbClr val="F7F8FA"/>
          </a:solidFill>
          <a:ln w="12700">
            <a:solidFill>
              <a:srgbClr val="DCE0E6"/>
            </a:solidFill>
            <a:prstDash val="solid"/>
          </a:ln>
        </p:spPr>
      </p:sp>
      <p:pic>
        <p:nvPicPr>
          <p:cNvPr id="20" name="Image 3" descr="icons/arrow_navy.png"/>
          <p:cNvPicPr>
            <a:picLocks noChangeAspect="1"/>
          </p:cNvPicPr>
          <p:nvPr/>
        </p:nvPicPr>
        <p:blipFill>
          <a:blip r:embed="rId3"/>
          <a:stretch>
            <a:fillRect/>
          </a:stretch>
        </p:blipFill>
        <p:spPr>
          <a:xfrm>
            <a:off x="6583680" y="5212080"/>
            <a:ext cx="228600" cy="228600"/>
          </a:xfrm>
          <a:prstGeom prst="rect">
            <a:avLst/>
          </a:prstGeom>
        </p:spPr>
      </p:pic>
      <p:sp>
        <p:nvSpPr>
          <p:cNvPr id="21" name="Text 15"/>
          <p:cNvSpPr/>
          <p:nvPr/>
        </p:nvSpPr>
        <p:spPr>
          <a:xfrm>
            <a:off x="6995160" y="4937760"/>
            <a:ext cx="4434840" cy="777240"/>
          </a:xfrm>
          <a:prstGeom prst="rect">
            <a:avLst/>
          </a:prstGeom>
          <a:noFill/>
          <a:ln/>
        </p:spPr>
        <p:txBody>
          <a:bodyPr wrap="square" lIns="0" tIns="0" rIns="0" bIns="0" rtlCol="0" anchor="ctr"/>
          <a:lstStyle/>
          <a:p>
            <a:pPr marL="0" indent="0">
              <a:buNone/>
            </a:pPr>
            <a:r>
              <a:rPr lang="en-US" sz="1250" dirty="0">
                <a:solidFill>
                  <a:srgbClr val="16203A"/>
                </a:solidFill>
                <a:latin typeface="Calibri" pitchFamily="34" charset="0"/>
                <a:ea typeface="Calibri" pitchFamily="34" charset="-122"/>
                <a:cs typeface="Calibri" pitchFamily="34" charset="-120"/>
              </a:rPr>
              <a:t>Fatigue mentale liée à l'exposition aux écrans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292608"/>
          </a:xfrm>
          <a:prstGeom prst="rect">
            <a:avLst/>
          </a:prstGeom>
          <a:noFill/>
          <a:ln/>
        </p:spPr>
        <p:txBody>
          <a:bodyPr wrap="square" lIns="0" tIns="0" rIns="0" bIns="0" rtlCol="0" anchor="ctr"/>
          <a:lstStyle/>
          <a:p>
            <a:pPr marL="0" indent="0">
              <a:buNone/>
            </a:pPr>
            <a:r>
              <a:rPr lang="en-US" sz="1150" b="1" kern="0" spc="220" dirty="0">
                <a:solidFill>
                  <a:srgbClr val="1E2A45"/>
                </a:solidFill>
                <a:latin typeface="Calibri" pitchFamily="34" charset="0"/>
                <a:ea typeface="Calibri" pitchFamily="34" charset="-122"/>
                <a:cs typeface="Calibri" pitchFamily="34" charset="-120"/>
              </a:rPr>
              <a:t>05 — CADRE PRATIQUE</a:t>
            </a:r>
            <a:endParaRPr lang="en-US" sz="1150" dirty="0"/>
          </a:p>
        </p:txBody>
      </p:sp>
      <p:sp>
        <p:nvSpPr>
          <p:cNvPr id="3" name="Text 1"/>
          <p:cNvSpPr/>
          <p:nvPr/>
        </p:nvSpPr>
        <p:spPr>
          <a:xfrm>
            <a:off x="640080" y="713232"/>
            <a:ext cx="10607040" cy="640080"/>
          </a:xfrm>
          <a:prstGeom prst="rect">
            <a:avLst/>
          </a:prstGeom>
          <a:noFill/>
          <a:ln/>
        </p:spPr>
        <p:txBody>
          <a:bodyPr wrap="square" lIns="0" tIns="0" rIns="0" bIns="0" rtlCol="0" anchor="ctr"/>
          <a:lstStyle/>
          <a:p>
            <a:pPr marL="0" indent="0">
              <a:buNone/>
            </a:pPr>
            <a:r>
              <a:rPr lang="en-US" sz="3000" b="1" dirty="0">
                <a:solidFill>
                  <a:srgbClr val="16203A"/>
                </a:solidFill>
                <a:latin typeface="Cambria" pitchFamily="34" charset="0"/>
                <a:ea typeface="Cambria" pitchFamily="34" charset="-122"/>
                <a:cs typeface="Cambria" pitchFamily="34" charset="-120"/>
              </a:rPr>
              <a:t>Intervention pédagogique : avant / après</a:t>
            </a:r>
            <a:endParaRPr lang="en-US" sz="3000" dirty="0"/>
          </a:p>
        </p:txBody>
      </p:sp>
      <p:sp>
        <p:nvSpPr>
          <p:cNvPr id="4" name="Text 2"/>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900" dirty="0">
                <a:solidFill>
                  <a:srgbClr val="8A92A0"/>
                </a:solidFill>
                <a:latin typeface="Calibri" pitchFamily="34" charset="0"/>
                <a:ea typeface="Calibri" pitchFamily="34" charset="-122"/>
                <a:cs typeface="Calibri" pitchFamily="34" charset="-120"/>
              </a:rPr>
              <a:t>09 / 13</a:t>
            </a:r>
            <a:endParaRPr lang="en-US" sz="900" dirty="0"/>
          </a:p>
        </p:txBody>
      </p:sp>
      <p:sp>
        <p:nvSpPr>
          <p:cNvPr id="5" name="Text 3"/>
          <p:cNvSpPr/>
          <p:nvPr/>
        </p:nvSpPr>
        <p:spPr>
          <a:xfrm>
            <a:off x="640080" y="6446520"/>
            <a:ext cx="6400800" cy="274320"/>
          </a:xfrm>
          <a:prstGeom prst="rect">
            <a:avLst/>
          </a:prstGeom>
          <a:noFill/>
          <a:ln/>
        </p:spPr>
        <p:txBody>
          <a:bodyPr wrap="square" lIns="0" tIns="0" rIns="0" bIns="0" rtlCol="0" anchor="ctr"/>
          <a:lstStyle/>
          <a:p>
            <a:pPr marL="0" indent="0">
              <a:buNone/>
            </a:pPr>
            <a:r>
              <a:rPr lang="en-US" sz="900" kern="0" spc="100" dirty="0">
                <a:solidFill>
                  <a:srgbClr val="8A92A0"/>
                </a:solidFill>
                <a:latin typeface="Calibri" pitchFamily="34" charset="0"/>
                <a:ea typeface="Calibri" pitchFamily="34" charset="-122"/>
                <a:cs typeface="Calibri" pitchFamily="34" charset="-120"/>
              </a:rPr>
              <a:t>PROJET PERSONNEL ENCADRÉ  •  CRMEF CASABLANCA-SETTAT</a:t>
            </a:r>
            <a:endParaRPr lang="en-US" sz="900" dirty="0"/>
          </a:p>
        </p:txBody>
      </p:sp>
      <p:sp>
        <p:nvSpPr>
          <p:cNvPr id="6" name="Shape 4"/>
          <p:cNvSpPr/>
          <p:nvPr/>
        </p:nvSpPr>
        <p:spPr>
          <a:xfrm>
            <a:off x="640080" y="1691640"/>
            <a:ext cx="5257800" cy="3200400"/>
          </a:xfrm>
          <a:prstGeom prst="rect">
            <a:avLst/>
          </a:prstGeom>
          <a:solidFill>
            <a:srgbClr val="F7F8FA"/>
          </a:solidFill>
          <a:ln w="12700">
            <a:solidFill>
              <a:srgbClr val="DCE0E6"/>
            </a:solidFill>
            <a:prstDash val="solid"/>
          </a:ln>
        </p:spPr>
      </p:sp>
      <p:pic>
        <p:nvPicPr>
          <p:cNvPr id="7" name="Image 0" descr="icons/times_gray.png"/>
          <p:cNvPicPr>
            <a:picLocks noChangeAspect="1"/>
          </p:cNvPicPr>
          <p:nvPr/>
        </p:nvPicPr>
        <p:blipFill>
          <a:blip r:embed="rId3"/>
          <a:stretch>
            <a:fillRect/>
          </a:stretch>
        </p:blipFill>
        <p:spPr>
          <a:xfrm>
            <a:off x="960120" y="1984248"/>
            <a:ext cx="365760" cy="365760"/>
          </a:xfrm>
          <a:prstGeom prst="rect">
            <a:avLst/>
          </a:prstGeom>
        </p:spPr>
      </p:pic>
      <p:sp>
        <p:nvSpPr>
          <p:cNvPr id="8" name="Text 5"/>
          <p:cNvSpPr/>
          <p:nvPr/>
        </p:nvSpPr>
        <p:spPr>
          <a:xfrm>
            <a:off x="1508760" y="1965960"/>
            <a:ext cx="4160520" cy="411480"/>
          </a:xfrm>
          <a:prstGeom prst="rect">
            <a:avLst/>
          </a:prstGeom>
          <a:noFill/>
          <a:ln/>
        </p:spPr>
        <p:txBody>
          <a:bodyPr wrap="square" lIns="0" tIns="0" rIns="0" bIns="0" rtlCol="0" anchor="ctr"/>
          <a:lstStyle/>
          <a:p>
            <a:pPr marL="0" indent="0">
              <a:buNone/>
            </a:pPr>
            <a:r>
              <a:rPr lang="en-US" sz="1500" b="1" dirty="0">
                <a:solidFill>
                  <a:srgbClr val="5B6470"/>
                </a:solidFill>
                <a:latin typeface="Calibri" pitchFamily="34" charset="0"/>
                <a:ea typeface="Calibri" pitchFamily="34" charset="-122"/>
                <a:cs typeface="Calibri" pitchFamily="34" charset="-120"/>
              </a:rPr>
              <a:t>Avant l'intervention</a:t>
            </a:r>
            <a:endParaRPr lang="en-US" sz="1500" dirty="0"/>
          </a:p>
        </p:txBody>
      </p:sp>
      <p:sp>
        <p:nvSpPr>
          <p:cNvPr id="9" name="Text 6"/>
          <p:cNvSpPr/>
          <p:nvPr/>
        </p:nvSpPr>
        <p:spPr>
          <a:xfrm>
            <a:off x="960120" y="2606040"/>
            <a:ext cx="4617720" cy="2103120"/>
          </a:xfrm>
          <a:prstGeom prst="rect">
            <a:avLst/>
          </a:prstGeom>
          <a:noFill/>
          <a:ln/>
        </p:spPr>
        <p:txBody>
          <a:bodyPr wrap="square" lIns="0" tIns="0" rIns="0" bIns="0" rtlCol="0" anchor="ctr"/>
          <a:lstStyle/>
          <a:p>
            <a:pPr marL="177800" indent="-177800">
              <a:lnSpc>
                <a:spcPct val="150000"/>
              </a:lnSpc>
              <a:spcAft>
                <a:spcPts val="1000"/>
              </a:spcAft>
              <a:buSzPct val="100000"/>
              <a:buChar char="•"/>
            </a:pPr>
            <a:r>
              <a:rPr lang="en-US" sz="1300" dirty="0">
                <a:solidFill>
                  <a:srgbClr val="5B6470"/>
                </a:solidFill>
                <a:latin typeface="Calibri" pitchFamily="34" charset="0"/>
                <a:ea typeface="Calibri" pitchFamily="34" charset="-122"/>
                <a:cs typeface="Calibri" pitchFamily="34" charset="-120"/>
              </a:rPr>
              <a:t>Forte distraction pendant les cours</a:t>
            </a:r>
            <a:endParaRPr lang="en-US" sz="1300" dirty="0"/>
          </a:p>
          <a:p>
            <a:pPr marL="177800" indent="-177800">
              <a:lnSpc>
                <a:spcPct val="150000"/>
              </a:lnSpc>
              <a:spcAft>
                <a:spcPts val="1000"/>
              </a:spcAft>
              <a:buSzPct val="100000"/>
              <a:buChar char="•"/>
            </a:pPr>
            <a:r>
              <a:rPr lang="en-US" sz="1300" dirty="0">
                <a:solidFill>
                  <a:srgbClr val="5B6470"/>
                </a:solidFill>
                <a:latin typeface="Calibri" pitchFamily="34" charset="0"/>
                <a:ea typeface="Calibri" pitchFamily="34" charset="-122"/>
                <a:cs typeface="Calibri" pitchFamily="34" charset="-120"/>
              </a:rPr>
              <a:t>Usage récurrent du téléphone en classe</a:t>
            </a:r>
            <a:endParaRPr lang="en-US" sz="1300" dirty="0"/>
          </a:p>
          <a:p>
            <a:pPr marL="177800" indent="-177800">
              <a:lnSpc>
                <a:spcPct val="150000"/>
              </a:lnSpc>
              <a:spcAft>
                <a:spcPts val="1000"/>
              </a:spcAft>
              <a:buSzPct val="100000"/>
              <a:buChar char="•"/>
            </a:pPr>
            <a:r>
              <a:rPr lang="en-US" sz="1300" dirty="0">
                <a:solidFill>
                  <a:srgbClr val="5B6470"/>
                </a:solidFill>
                <a:latin typeface="Calibri" pitchFamily="34" charset="0"/>
                <a:ea typeface="Calibri" pitchFamily="34" charset="-122"/>
                <a:cs typeface="Calibri" pitchFamily="34" charset="-120"/>
              </a:rPr>
              <a:t>Faible capacité de concentration</a:t>
            </a:r>
            <a:endParaRPr lang="en-US" sz="1300" dirty="0"/>
          </a:p>
          <a:p>
            <a:pPr marL="177800" indent="-177800">
              <a:lnSpc>
                <a:spcPct val="150000"/>
              </a:lnSpc>
              <a:spcAft>
                <a:spcPts val="1000"/>
              </a:spcAft>
              <a:buSzPct val="100000"/>
              <a:buChar char="•"/>
            </a:pPr>
            <a:r>
              <a:rPr lang="en-US" sz="1300" dirty="0">
                <a:solidFill>
                  <a:srgbClr val="5B6470"/>
                </a:solidFill>
                <a:latin typeface="Calibri" pitchFamily="34" charset="0"/>
                <a:ea typeface="Calibri" pitchFamily="34" charset="-122"/>
                <a:cs typeface="Calibri" pitchFamily="34" charset="-120"/>
              </a:rPr>
              <a:t>Participation limitée et attitude passive</a:t>
            </a:r>
            <a:endParaRPr lang="en-US" sz="1300" dirty="0"/>
          </a:p>
        </p:txBody>
      </p:sp>
      <p:sp>
        <p:nvSpPr>
          <p:cNvPr id="10" name="Shape 7"/>
          <p:cNvSpPr/>
          <p:nvPr/>
        </p:nvSpPr>
        <p:spPr>
          <a:xfrm>
            <a:off x="6309360" y="1691640"/>
            <a:ext cx="5257800" cy="3200400"/>
          </a:xfrm>
          <a:prstGeom prst="rect">
            <a:avLst/>
          </a:prstGeom>
          <a:solidFill>
            <a:srgbClr val="16203A"/>
          </a:solidFill>
          <a:ln/>
        </p:spPr>
      </p:sp>
      <p:pic>
        <p:nvPicPr>
          <p:cNvPr id="11" name="Image 1" descr="icons/check_white.png"/>
          <p:cNvPicPr>
            <a:picLocks noChangeAspect="1"/>
          </p:cNvPicPr>
          <p:nvPr/>
        </p:nvPicPr>
        <p:blipFill>
          <a:blip r:embed="rId4"/>
          <a:stretch>
            <a:fillRect/>
          </a:stretch>
        </p:blipFill>
        <p:spPr>
          <a:xfrm>
            <a:off x="6629400" y="1984248"/>
            <a:ext cx="365760" cy="365760"/>
          </a:xfrm>
          <a:prstGeom prst="rect">
            <a:avLst/>
          </a:prstGeom>
        </p:spPr>
      </p:pic>
      <p:sp>
        <p:nvSpPr>
          <p:cNvPr id="12" name="Text 8"/>
          <p:cNvSpPr/>
          <p:nvPr/>
        </p:nvSpPr>
        <p:spPr>
          <a:xfrm>
            <a:off x="7178040" y="1965960"/>
            <a:ext cx="416052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Après l'intervention</a:t>
            </a:r>
            <a:endParaRPr lang="en-US" sz="1500" dirty="0"/>
          </a:p>
        </p:txBody>
      </p:sp>
      <p:sp>
        <p:nvSpPr>
          <p:cNvPr id="13" name="Text 9"/>
          <p:cNvSpPr/>
          <p:nvPr/>
        </p:nvSpPr>
        <p:spPr>
          <a:xfrm>
            <a:off x="6629400" y="2606040"/>
            <a:ext cx="4617720" cy="2103120"/>
          </a:xfrm>
          <a:prstGeom prst="rect">
            <a:avLst/>
          </a:prstGeom>
          <a:noFill/>
          <a:ln/>
        </p:spPr>
        <p:txBody>
          <a:bodyPr wrap="square" lIns="0" tIns="0" rIns="0" bIns="0" rtlCol="0" anchor="ctr"/>
          <a:lstStyle/>
          <a:p>
            <a:pPr marL="177800" indent="-177800">
              <a:lnSpc>
                <a:spcPct val="150000"/>
              </a:lnSpc>
              <a:spcAft>
                <a:spcPts val="1000"/>
              </a:spcAft>
              <a:buSzPct val="100000"/>
              <a:buChar char="•"/>
            </a:pPr>
            <a:r>
              <a:rPr lang="en-US" sz="1300" dirty="0">
                <a:solidFill>
                  <a:srgbClr val="E3E7EE"/>
                </a:solidFill>
                <a:latin typeface="Calibri" pitchFamily="34" charset="0"/>
                <a:ea typeface="Calibri" pitchFamily="34" charset="-122"/>
                <a:cs typeface="Calibri" pitchFamily="34" charset="-120"/>
              </a:rPr>
              <a:t>Amélioration significative de la concentration</a:t>
            </a:r>
            <a:endParaRPr lang="en-US" sz="1300" dirty="0"/>
          </a:p>
          <a:p>
            <a:pPr marL="177800" indent="-177800">
              <a:lnSpc>
                <a:spcPct val="150000"/>
              </a:lnSpc>
              <a:spcAft>
                <a:spcPts val="1000"/>
              </a:spcAft>
              <a:buSzPct val="100000"/>
              <a:buChar char="•"/>
            </a:pPr>
            <a:r>
              <a:rPr lang="en-US" sz="1300" dirty="0">
                <a:solidFill>
                  <a:srgbClr val="E3E7EE"/>
                </a:solidFill>
                <a:latin typeface="Calibri" pitchFamily="34" charset="0"/>
                <a:ea typeface="Calibri" pitchFamily="34" charset="-122"/>
                <a:cs typeface="Calibri" pitchFamily="34" charset="-120"/>
              </a:rPr>
              <a:t>Augmentation de la participation orale</a:t>
            </a:r>
            <a:endParaRPr lang="en-US" sz="1300" dirty="0"/>
          </a:p>
          <a:p>
            <a:pPr marL="177800" indent="-177800">
              <a:lnSpc>
                <a:spcPct val="150000"/>
              </a:lnSpc>
              <a:spcAft>
                <a:spcPts val="1000"/>
              </a:spcAft>
              <a:buSzPct val="100000"/>
              <a:buChar char="•"/>
            </a:pPr>
            <a:r>
              <a:rPr lang="en-US" sz="1300" dirty="0">
                <a:solidFill>
                  <a:srgbClr val="E3E7EE"/>
                </a:solidFill>
                <a:latin typeface="Calibri" pitchFamily="34" charset="0"/>
                <a:ea typeface="Calibri" pitchFamily="34" charset="-122"/>
                <a:cs typeface="Calibri" pitchFamily="34" charset="-120"/>
              </a:rPr>
              <a:t>Diminution de l'usage du téléphone</a:t>
            </a:r>
            <a:endParaRPr lang="en-US" sz="1300" dirty="0"/>
          </a:p>
          <a:p>
            <a:pPr marL="177800" indent="-177800">
              <a:lnSpc>
                <a:spcPct val="150000"/>
              </a:lnSpc>
              <a:spcAft>
                <a:spcPts val="1000"/>
              </a:spcAft>
              <a:buSzPct val="100000"/>
              <a:buChar char="•"/>
            </a:pPr>
            <a:r>
              <a:rPr lang="en-US" sz="1300" dirty="0">
                <a:solidFill>
                  <a:srgbClr val="E3E7EE"/>
                </a:solidFill>
                <a:latin typeface="Calibri" pitchFamily="34" charset="0"/>
                <a:ea typeface="Calibri" pitchFamily="34" charset="-122"/>
                <a:cs typeface="Calibri" pitchFamily="34" charset="-120"/>
              </a:rPr>
              <a:t>Meilleure dynamique de classe</a:t>
            </a:r>
            <a:endParaRPr lang="en-US" sz="1300" dirty="0"/>
          </a:p>
        </p:txBody>
      </p:sp>
      <p:sp>
        <p:nvSpPr>
          <p:cNvPr id="14" name="Text 10"/>
          <p:cNvSpPr/>
          <p:nvPr/>
        </p:nvSpPr>
        <p:spPr>
          <a:xfrm>
            <a:off x="640080" y="5166360"/>
            <a:ext cx="10927080" cy="457200"/>
          </a:xfrm>
          <a:prstGeom prst="rect">
            <a:avLst/>
          </a:prstGeom>
          <a:noFill/>
          <a:ln/>
        </p:spPr>
        <p:txBody>
          <a:bodyPr wrap="square" lIns="0" tIns="0" rIns="0" bIns="0" rtlCol="0" anchor="ctr"/>
          <a:lstStyle/>
          <a:p>
            <a:pPr marL="0" indent="0">
              <a:lnSpc>
                <a:spcPct val="130000"/>
              </a:lnSpc>
              <a:buNone/>
            </a:pPr>
            <a:r>
              <a:rPr lang="en-US" sz="1150" b="1" i="1" dirty="0">
                <a:solidFill>
                  <a:srgbClr val="1E2A45"/>
                </a:solidFill>
                <a:latin typeface="Calibri" pitchFamily="34" charset="0"/>
                <a:ea typeface="Calibri" pitchFamily="34" charset="-122"/>
                <a:cs typeface="Calibri" pitchFamily="34" charset="-120"/>
              </a:rPr>
              <a:t>Méthodes utilisées   </a:t>
            </a:r>
            <a:r>
              <a:rPr lang="en-US" sz="1150" i="1" dirty="0">
                <a:solidFill>
                  <a:srgbClr val="5B6470"/>
                </a:solidFill>
                <a:latin typeface="Calibri" pitchFamily="34" charset="0"/>
                <a:ea typeface="Calibri" pitchFamily="34" charset="-122"/>
                <a:cs typeface="Calibri" pitchFamily="34" charset="-120"/>
              </a:rPr>
              <a:t>Questions rapides  •  Exercices progressifs  •  Supports visuels  •  Gamification (Kahoot)  •  Interactions orales continues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292608"/>
          </a:xfrm>
          <a:prstGeom prst="rect">
            <a:avLst/>
          </a:prstGeom>
          <a:noFill/>
          <a:ln/>
        </p:spPr>
        <p:txBody>
          <a:bodyPr wrap="square" lIns="0" tIns="0" rIns="0" bIns="0" rtlCol="0" anchor="ctr"/>
          <a:lstStyle/>
          <a:p>
            <a:pPr marL="0" indent="0">
              <a:buNone/>
            </a:pPr>
            <a:r>
              <a:rPr lang="en-US" sz="1150" b="1" kern="0" spc="220" dirty="0">
                <a:solidFill>
                  <a:srgbClr val="1E2A45"/>
                </a:solidFill>
                <a:latin typeface="Calibri" pitchFamily="34" charset="0"/>
                <a:ea typeface="Calibri" pitchFamily="34" charset="-122"/>
                <a:cs typeface="Calibri" pitchFamily="34" charset="-120"/>
              </a:rPr>
              <a:t>05 — CADRE PRATIQUE</a:t>
            </a:r>
            <a:endParaRPr lang="en-US" sz="1150" dirty="0"/>
          </a:p>
        </p:txBody>
      </p:sp>
      <p:sp>
        <p:nvSpPr>
          <p:cNvPr id="3" name="Text 1"/>
          <p:cNvSpPr/>
          <p:nvPr/>
        </p:nvSpPr>
        <p:spPr>
          <a:xfrm>
            <a:off x="640080" y="713232"/>
            <a:ext cx="10607040" cy="640080"/>
          </a:xfrm>
          <a:prstGeom prst="rect">
            <a:avLst/>
          </a:prstGeom>
          <a:noFill/>
          <a:ln/>
        </p:spPr>
        <p:txBody>
          <a:bodyPr wrap="square" lIns="0" tIns="0" rIns="0" bIns="0" rtlCol="0" anchor="ctr"/>
          <a:lstStyle/>
          <a:p>
            <a:pPr marL="0" indent="0">
              <a:buNone/>
            </a:pPr>
            <a:r>
              <a:rPr lang="en-US" sz="3000" b="1" dirty="0">
                <a:solidFill>
                  <a:srgbClr val="16203A"/>
                </a:solidFill>
                <a:latin typeface="Cambria" pitchFamily="34" charset="0"/>
                <a:ea typeface="Cambria" pitchFamily="34" charset="-122"/>
                <a:cs typeface="Cambria" pitchFamily="34" charset="-120"/>
              </a:rPr>
              <a:t>Validation des hypothèses de recherche</a:t>
            </a:r>
            <a:endParaRPr lang="en-US" sz="3000" dirty="0"/>
          </a:p>
        </p:txBody>
      </p:sp>
      <p:sp>
        <p:nvSpPr>
          <p:cNvPr id="4" name="Text 2"/>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900" dirty="0">
                <a:solidFill>
                  <a:srgbClr val="8A92A0"/>
                </a:solidFill>
                <a:latin typeface="Calibri" pitchFamily="34" charset="0"/>
                <a:ea typeface="Calibri" pitchFamily="34" charset="-122"/>
                <a:cs typeface="Calibri" pitchFamily="34" charset="-120"/>
              </a:rPr>
              <a:t>10 / 13</a:t>
            </a:r>
            <a:endParaRPr lang="en-US" sz="900" dirty="0"/>
          </a:p>
        </p:txBody>
      </p:sp>
      <p:sp>
        <p:nvSpPr>
          <p:cNvPr id="5" name="Text 3"/>
          <p:cNvSpPr/>
          <p:nvPr/>
        </p:nvSpPr>
        <p:spPr>
          <a:xfrm>
            <a:off x="640080" y="6446520"/>
            <a:ext cx="6400800" cy="274320"/>
          </a:xfrm>
          <a:prstGeom prst="rect">
            <a:avLst/>
          </a:prstGeom>
          <a:noFill/>
          <a:ln/>
        </p:spPr>
        <p:txBody>
          <a:bodyPr wrap="square" lIns="0" tIns="0" rIns="0" bIns="0" rtlCol="0" anchor="ctr"/>
          <a:lstStyle/>
          <a:p>
            <a:pPr marL="0" indent="0">
              <a:buNone/>
            </a:pPr>
            <a:r>
              <a:rPr lang="en-US" sz="900" kern="0" spc="100" dirty="0">
                <a:solidFill>
                  <a:srgbClr val="8A92A0"/>
                </a:solidFill>
                <a:latin typeface="Calibri" pitchFamily="34" charset="0"/>
                <a:ea typeface="Calibri" pitchFamily="34" charset="-122"/>
                <a:cs typeface="Calibri" pitchFamily="34" charset="-120"/>
              </a:rPr>
              <a:t>PROJET PERSONNEL ENCADRÉ  •  CRMEF CASABLANCA-SETTAT</a:t>
            </a:r>
            <a:endParaRPr lang="en-US" sz="900" dirty="0"/>
          </a:p>
        </p:txBody>
      </p:sp>
      <p:sp>
        <p:nvSpPr>
          <p:cNvPr id="6" name="Shape 4"/>
          <p:cNvSpPr/>
          <p:nvPr/>
        </p:nvSpPr>
        <p:spPr>
          <a:xfrm>
            <a:off x="640080" y="2505456"/>
            <a:ext cx="10927080" cy="0"/>
          </a:xfrm>
          <a:prstGeom prst="line">
            <a:avLst/>
          </a:prstGeom>
          <a:noFill/>
          <a:ln w="12700">
            <a:solidFill>
              <a:srgbClr val="DCE0E6"/>
            </a:solidFill>
            <a:prstDash val="solid"/>
          </a:ln>
        </p:spPr>
      </p:sp>
      <p:sp>
        <p:nvSpPr>
          <p:cNvPr id="7" name="Text 5"/>
          <p:cNvSpPr/>
          <p:nvPr/>
        </p:nvSpPr>
        <p:spPr>
          <a:xfrm>
            <a:off x="640080" y="1737360"/>
            <a:ext cx="822960" cy="768096"/>
          </a:xfrm>
          <a:prstGeom prst="rect">
            <a:avLst/>
          </a:prstGeom>
          <a:noFill/>
          <a:ln/>
        </p:spPr>
        <p:txBody>
          <a:bodyPr wrap="square" lIns="0" tIns="0" rIns="0" bIns="0" rtlCol="0" anchor="ctr"/>
          <a:lstStyle/>
          <a:p>
            <a:pPr marL="0" indent="0">
              <a:buNone/>
            </a:pPr>
            <a:r>
              <a:rPr lang="en-US" sz="1700" b="1" dirty="0">
                <a:solidFill>
                  <a:srgbClr val="16203A"/>
                </a:solidFill>
                <a:latin typeface="Cambria" pitchFamily="34" charset="0"/>
                <a:ea typeface="Cambria" pitchFamily="34" charset="-122"/>
                <a:cs typeface="Cambria" pitchFamily="34" charset="-120"/>
              </a:rPr>
              <a:t>H1</a:t>
            </a:r>
            <a:endParaRPr lang="en-US" sz="1700" dirty="0"/>
          </a:p>
        </p:txBody>
      </p:sp>
      <p:sp>
        <p:nvSpPr>
          <p:cNvPr id="8" name="Text 6"/>
          <p:cNvSpPr/>
          <p:nvPr/>
        </p:nvSpPr>
        <p:spPr>
          <a:xfrm>
            <a:off x="1554480" y="1737360"/>
            <a:ext cx="6949440" cy="768096"/>
          </a:xfrm>
          <a:prstGeom prst="rect">
            <a:avLst/>
          </a:prstGeom>
          <a:noFill/>
          <a:ln/>
        </p:spPr>
        <p:txBody>
          <a:bodyPr wrap="square" lIns="0" tIns="0" rIns="0" bIns="0" rtlCol="0" anchor="ctr"/>
          <a:lstStyle/>
          <a:p>
            <a:pPr marL="0" indent="0">
              <a:buNone/>
            </a:pPr>
            <a:r>
              <a:rPr lang="en-US" sz="1300" dirty="0">
                <a:solidFill>
                  <a:srgbClr val="16203A"/>
                </a:solidFill>
                <a:latin typeface="Calibri" pitchFamily="34" charset="0"/>
                <a:ea typeface="Calibri" pitchFamily="34" charset="-122"/>
                <a:cs typeface="Calibri" pitchFamily="34" charset="-120"/>
              </a:rPr>
              <a:t>L'usage intensif réduit la concentration en classe.</a:t>
            </a:r>
            <a:endParaRPr lang="en-US" sz="1300" dirty="0"/>
          </a:p>
        </p:txBody>
      </p:sp>
      <p:sp>
        <p:nvSpPr>
          <p:cNvPr id="9" name="Shape 7"/>
          <p:cNvSpPr/>
          <p:nvPr/>
        </p:nvSpPr>
        <p:spPr>
          <a:xfrm>
            <a:off x="9692640" y="1929384"/>
            <a:ext cx="1417320" cy="384048"/>
          </a:xfrm>
          <a:prstGeom prst="roundRect">
            <a:avLst>
              <a:gd name="adj" fmla="val 19048"/>
            </a:avLst>
          </a:prstGeom>
          <a:solidFill>
            <a:srgbClr val="EDF1F7"/>
          </a:solidFill>
          <a:ln w="12700">
            <a:solidFill>
              <a:srgbClr val="1E2A45"/>
            </a:solidFill>
            <a:prstDash val="solid"/>
          </a:ln>
        </p:spPr>
      </p:sp>
      <p:sp>
        <p:nvSpPr>
          <p:cNvPr id="10" name="Text 8"/>
          <p:cNvSpPr/>
          <p:nvPr/>
        </p:nvSpPr>
        <p:spPr>
          <a:xfrm>
            <a:off x="9692640" y="1929384"/>
            <a:ext cx="1417320" cy="384048"/>
          </a:xfrm>
          <a:prstGeom prst="rect">
            <a:avLst/>
          </a:prstGeom>
          <a:noFill/>
          <a:ln/>
        </p:spPr>
        <p:txBody>
          <a:bodyPr wrap="square" lIns="0" tIns="0" rIns="0" bIns="0" rtlCol="0" anchor="ctr"/>
          <a:lstStyle/>
          <a:p>
            <a:pPr marL="0" indent="0" algn="ctr">
              <a:buNone/>
            </a:pPr>
            <a:r>
              <a:rPr lang="en-US" sz="1050" b="1" dirty="0">
                <a:solidFill>
                  <a:srgbClr val="1E2A45"/>
                </a:solidFill>
                <a:latin typeface="Calibri" pitchFamily="34" charset="0"/>
                <a:ea typeface="Calibri" pitchFamily="34" charset="-122"/>
                <a:cs typeface="Calibri" pitchFamily="34" charset="-120"/>
              </a:rPr>
              <a:t>Confirmée</a:t>
            </a:r>
            <a:endParaRPr lang="en-US" sz="1050" dirty="0"/>
          </a:p>
        </p:txBody>
      </p:sp>
      <p:sp>
        <p:nvSpPr>
          <p:cNvPr id="11" name="Shape 9"/>
          <p:cNvSpPr/>
          <p:nvPr/>
        </p:nvSpPr>
        <p:spPr>
          <a:xfrm>
            <a:off x="640080" y="3273552"/>
            <a:ext cx="10927080" cy="0"/>
          </a:xfrm>
          <a:prstGeom prst="line">
            <a:avLst/>
          </a:prstGeom>
          <a:noFill/>
          <a:ln w="12700">
            <a:solidFill>
              <a:srgbClr val="DCE0E6"/>
            </a:solidFill>
            <a:prstDash val="solid"/>
          </a:ln>
        </p:spPr>
      </p:sp>
      <p:sp>
        <p:nvSpPr>
          <p:cNvPr id="12" name="Text 10"/>
          <p:cNvSpPr/>
          <p:nvPr/>
        </p:nvSpPr>
        <p:spPr>
          <a:xfrm>
            <a:off x="640080" y="2505456"/>
            <a:ext cx="822960" cy="768096"/>
          </a:xfrm>
          <a:prstGeom prst="rect">
            <a:avLst/>
          </a:prstGeom>
          <a:noFill/>
          <a:ln/>
        </p:spPr>
        <p:txBody>
          <a:bodyPr wrap="square" lIns="0" tIns="0" rIns="0" bIns="0" rtlCol="0" anchor="ctr"/>
          <a:lstStyle/>
          <a:p>
            <a:pPr marL="0" indent="0">
              <a:buNone/>
            </a:pPr>
            <a:r>
              <a:rPr lang="en-US" sz="1700" b="1" dirty="0">
                <a:solidFill>
                  <a:srgbClr val="16203A"/>
                </a:solidFill>
                <a:latin typeface="Cambria" pitchFamily="34" charset="0"/>
                <a:ea typeface="Cambria" pitchFamily="34" charset="-122"/>
                <a:cs typeface="Cambria" pitchFamily="34" charset="-120"/>
              </a:rPr>
              <a:t>H2</a:t>
            </a:r>
            <a:endParaRPr lang="en-US" sz="1700" dirty="0"/>
          </a:p>
        </p:txBody>
      </p:sp>
      <p:sp>
        <p:nvSpPr>
          <p:cNvPr id="13" name="Text 11"/>
          <p:cNvSpPr/>
          <p:nvPr/>
        </p:nvSpPr>
        <p:spPr>
          <a:xfrm>
            <a:off x="1554480" y="2505456"/>
            <a:ext cx="6949440" cy="768096"/>
          </a:xfrm>
          <a:prstGeom prst="rect">
            <a:avLst/>
          </a:prstGeom>
          <a:noFill/>
          <a:ln/>
        </p:spPr>
        <p:txBody>
          <a:bodyPr wrap="square" lIns="0" tIns="0" rIns="0" bIns="0" rtlCol="0" anchor="ctr"/>
          <a:lstStyle/>
          <a:p>
            <a:pPr marL="0" indent="0">
              <a:buNone/>
            </a:pPr>
            <a:r>
              <a:rPr lang="en-US" sz="1300" dirty="0">
                <a:solidFill>
                  <a:srgbClr val="16203A"/>
                </a:solidFill>
                <a:latin typeface="Calibri" pitchFamily="34" charset="0"/>
                <a:ea typeface="Calibri" pitchFamily="34" charset="-122"/>
                <a:cs typeface="Calibri" pitchFamily="34" charset="-120"/>
              </a:rPr>
              <a:t>TikTok est la plateforme la plus distrayante.</a:t>
            </a:r>
            <a:endParaRPr lang="en-US" sz="1300" dirty="0"/>
          </a:p>
        </p:txBody>
      </p:sp>
      <p:sp>
        <p:nvSpPr>
          <p:cNvPr id="14" name="Shape 12"/>
          <p:cNvSpPr/>
          <p:nvPr/>
        </p:nvSpPr>
        <p:spPr>
          <a:xfrm>
            <a:off x="9692640" y="2697480"/>
            <a:ext cx="1417320" cy="384048"/>
          </a:xfrm>
          <a:prstGeom prst="roundRect">
            <a:avLst>
              <a:gd name="adj" fmla="val 19048"/>
            </a:avLst>
          </a:prstGeom>
          <a:solidFill>
            <a:srgbClr val="EDF1F7"/>
          </a:solidFill>
          <a:ln w="12700">
            <a:solidFill>
              <a:srgbClr val="1E2A45"/>
            </a:solidFill>
            <a:prstDash val="solid"/>
          </a:ln>
        </p:spPr>
      </p:sp>
      <p:sp>
        <p:nvSpPr>
          <p:cNvPr id="15" name="Text 13"/>
          <p:cNvSpPr/>
          <p:nvPr/>
        </p:nvSpPr>
        <p:spPr>
          <a:xfrm>
            <a:off x="9692640" y="2697480"/>
            <a:ext cx="1417320" cy="384048"/>
          </a:xfrm>
          <a:prstGeom prst="rect">
            <a:avLst/>
          </a:prstGeom>
          <a:noFill/>
          <a:ln/>
        </p:spPr>
        <p:txBody>
          <a:bodyPr wrap="square" lIns="0" tIns="0" rIns="0" bIns="0" rtlCol="0" anchor="ctr"/>
          <a:lstStyle/>
          <a:p>
            <a:pPr marL="0" indent="0" algn="ctr">
              <a:buNone/>
            </a:pPr>
            <a:r>
              <a:rPr lang="en-US" sz="1050" b="1" dirty="0">
                <a:solidFill>
                  <a:srgbClr val="1E2A45"/>
                </a:solidFill>
                <a:latin typeface="Calibri" pitchFamily="34" charset="0"/>
                <a:ea typeface="Calibri" pitchFamily="34" charset="-122"/>
                <a:cs typeface="Calibri" pitchFamily="34" charset="-120"/>
              </a:rPr>
              <a:t>Confirmée</a:t>
            </a:r>
            <a:endParaRPr lang="en-US" sz="1050" dirty="0"/>
          </a:p>
        </p:txBody>
      </p:sp>
      <p:sp>
        <p:nvSpPr>
          <p:cNvPr id="16" name="Shape 14"/>
          <p:cNvSpPr/>
          <p:nvPr/>
        </p:nvSpPr>
        <p:spPr>
          <a:xfrm>
            <a:off x="640080" y="4041648"/>
            <a:ext cx="10927080" cy="0"/>
          </a:xfrm>
          <a:prstGeom prst="line">
            <a:avLst/>
          </a:prstGeom>
          <a:noFill/>
          <a:ln w="12700">
            <a:solidFill>
              <a:srgbClr val="DCE0E6"/>
            </a:solidFill>
            <a:prstDash val="solid"/>
          </a:ln>
        </p:spPr>
      </p:sp>
      <p:sp>
        <p:nvSpPr>
          <p:cNvPr id="17" name="Text 15"/>
          <p:cNvSpPr/>
          <p:nvPr/>
        </p:nvSpPr>
        <p:spPr>
          <a:xfrm>
            <a:off x="640080" y="3273552"/>
            <a:ext cx="822960" cy="768096"/>
          </a:xfrm>
          <a:prstGeom prst="rect">
            <a:avLst/>
          </a:prstGeom>
          <a:noFill/>
          <a:ln/>
        </p:spPr>
        <p:txBody>
          <a:bodyPr wrap="square" lIns="0" tIns="0" rIns="0" bIns="0" rtlCol="0" anchor="ctr"/>
          <a:lstStyle/>
          <a:p>
            <a:pPr marL="0" indent="0">
              <a:buNone/>
            </a:pPr>
            <a:r>
              <a:rPr lang="en-US" sz="1700" b="1" dirty="0">
                <a:solidFill>
                  <a:srgbClr val="16203A"/>
                </a:solidFill>
                <a:latin typeface="Cambria" pitchFamily="34" charset="0"/>
                <a:ea typeface="Cambria" pitchFamily="34" charset="-122"/>
                <a:cs typeface="Cambria" pitchFamily="34" charset="-120"/>
              </a:rPr>
              <a:t>H3</a:t>
            </a:r>
            <a:endParaRPr lang="en-US" sz="1700" dirty="0"/>
          </a:p>
        </p:txBody>
      </p:sp>
      <p:sp>
        <p:nvSpPr>
          <p:cNvPr id="18" name="Text 16"/>
          <p:cNvSpPr/>
          <p:nvPr/>
        </p:nvSpPr>
        <p:spPr>
          <a:xfrm>
            <a:off x="1554480" y="3273552"/>
            <a:ext cx="6949440" cy="768096"/>
          </a:xfrm>
          <a:prstGeom prst="rect">
            <a:avLst/>
          </a:prstGeom>
          <a:noFill/>
          <a:ln/>
        </p:spPr>
        <p:txBody>
          <a:bodyPr wrap="square" lIns="0" tIns="0" rIns="0" bIns="0" rtlCol="0" anchor="ctr"/>
          <a:lstStyle/>
          <a:p>
            <a:pPr marL="0" indent="0">
              <a:buNone/>
            </a:pPr>
            <a:r>
              <a:rPr lang="en-US" sz="1300" dirty="0">
                <a:solidFill>
                  <a:srgbClr val="16203A"/>
                </a:solidFill>
                <a:latin typeface="Calibri" pitchFamily="34" charset="0"/>
                <a:ea typeface="Calibri" pitchFamily="34" charset="-122"/>
                <a:cs typeface="Calibri" pitchFamily="34" charset="-120"/>
              </a:rPr>
              <a:t>L'exposition quotidienne dégrade les résultats scolaires.</a:t>
            </a:r>
            <a:endParaRPr lang="en-US" sz="1300" dirty="0"/>
          </a:p>
        </p:txBody>
      </p:sp>
      <p:sp>
        <p:nvSpPr>
          <p:cNvPr id="19" name="Shape 17"/>
          <p:cNvSpPr/>
          <p:nvPr/>
        </p:nvSpPr>
        <p:spPr>
          <a:xfrm>
            <a:off x="9692640" y="3465576"/>
            <a:ext cx="1417320" cy="384048"/>
          </a:xfrm>
          <a:prstGeom prst="roundRect">
            <a:avLst>
              <a:gd name="adj" fmla="val 19048"/>
            </a:avLst>
          </a:prstGeom>
          <a:solidFill>
            <a:srgbClr val="F1F1F1"/>
          </a:solidFill>
          <a:ln w="12700">
            <a:solidFill>
              <a:srgbClr val="5B6470"/>
            </a:solidFill>
            <a:prstDash val="solid"/>
          </a:ln>
        </p:spPr>
      </p:sp>
      <p:sp>
        <p:nvSpPr>
          <p:cNvPr id="20" name="Text 18"/>
          <p:cNvSpPr/>
          <p:nvPr/>
        </p:nvSpPr>
        <p:spPr>
          <a:xfrm>
            <a:off x="9692640" y="3465576"/>
            <a:ext cx="1417320" cy="384048"/>
          </a:xfrm>
          <a:prstGeom prst="rect">
            <a:avLst/>
          </a:prstGeom>
          <a:noFill/>
          <a:ln/>
        </p:spPr>
        <p:txBody>
          <a:bodyPr wrap="square" lIns="0" tIns="0" rIns="0" bIns="0" rtlCol="0" anchor="ctr"/>
          <a:lstStyle/>
          <a:p>
            <a:pPr marL="0" indent="0" algn="ctr">
              <a:buNone/>
            </a:pPr>
            <a:r>
              <a:rPr lang="en-US" sz="1050" b="1" dirty="0">
                <a:solidFill>
                  <a:srgbClr val="5B6470"/>
                </a:solidFill>
                <a:latin typeface="Calibri" pitchFamily="34" charset="0"/>
                <a:ea typeface="Calibri" pitchFamily="34" charset="-122"/>
                <a:cs typeface="Calibri" pitchFamily="34" charset="-120"/>
              </a:rPr>
              <a:t>Partielle</a:t>
            </a:r>
            <a:endParaRPr lang="en-US" sz="1050" dirty="0"/>
          </a:p>
        </p:txBody>
      </p:sp>
      <p:sp>
        <p:nvSpPr>
          <p:cNvPr id="21" name="Shape 19"/>
          <p:cNvSpPr/>
          <p:nvPr/>
        </p:nvSpPr>
        <p:spPr>
          <a:xfrm>
            <a:off x="640080" y="4809744"/>
            <a:ext cx="10927080" cy="0"/>
          </a:xfrm>
          <a:prstGeom prst="line">
            <a:avLst/>
          </a:prstGeom>
          <a:noFill/>
          <a:ln w="12700">
            <a:solidFill>
              <a:srgbClr val="DCE0E6"/>
            </a:solidFill>
            <a:prstDash val="solid"/>
          </a:ln>
        </p:spPr>
      </p:sp>
      <p:sp>
        <p:nvSpPr>
          <p:cNvPr id="22" name="Text 20"/>
          <p:cNvSpPr/>
          <p:nvPr/>
        </p:nvSpPr>
        <p:spPr>
          <a:xfrm>
            <a:off x="640080" y="4041648"/>
            <a:ext cx="822960" cy="768096"/>
          </a:xfrm>
          <a:prstGeom prst="rect">
            <a:avLst/>
          </a:prstGeom>
          <a:noFill/>
          <a:ln/>
        </p:spPr>
        <p:txBody>
          <a:bodyPr wrap="square" lIns="0" tIns="0" rIns="0" bIns="0" rtlCol="0" anchor="ctr"/>
          <a:lstStyle/>
          <a:p>
            <a:pPr marL="0" indent="0">
              <a:buNone/>
            </a:pPr>
            <a:r>
              <a:rPr lang="en-US" sz="1700" b="1" dirty="0">
                <a:solidFill>
                  <a:srgbClr val="16203A"/>
                </a:solidFill>
                <a:latin typeface="Cambria" pitchFamily="34" charset="0"/>
                <a:ea typeface="Cambria" pitchFamily="34" charset="-122"/>
                <a:cs typeface="Cambria" pitchFamily="34" charset="-120"/>
              </a:rPr>
              <a:t>H4</a:t>
            </a:r>
            <a:endParaRPr lang="en-US" sz="1700" dirty="0"/>
          </a:p>
        </p:txBody>
      </p:sp>
      <p:sp>
        <p:nvSpPr>
          <p:cNvPr id="23" name="Text 21"/>
          <p:cNvSpPr/>
          <p:nvPr/>
        </p:nvSpPr>
        <p:spPr>
          <a:xfrm>
            <a:off x="1554480" y="4041648"/>
            <a:ext cx="6949440" cy="768096"/>
          </a:xfrm>
          <a:prstGeom prst="rect">
            <a:avLst/>
          </a:prstGeom>
          <a:noFill/>
          <a:ln/>
        </p:spPr>
        <p:txBody>
          <a:bodyPr wrap="square" lIns="0" tIns="0" rIns="0" bIns="0" rtlCol="0" anchor="ctr"/>
          <a:lstStyle/>
          <a:p>
            <a:pPr marL="0" indent="0">
              <a:buNone/>
            </a:pPr>
            <a:r>
              <a:rPr lang="en-US" sz="1300" dirty="0">
                <a:solidFill>
                  <a:srgbClr val="16203A"/>
                </a:solidFill>
                <a:latin typeface="Calibri" pitchFamily="34" charset="0"/>
                <a:ea typeface="Calibri" pitchFamily="34" charset="-122"/>
                <a:cs typeface="Calibri" pitchFamily="34" charset="-120"/>
              </a:rPr>
              <a:t>La pédagogie interactive restaure l'attention.</a:t>
            </a:r>
            <a:endParaRPr lang="en-US" sz="1300" dirty="0"/>
          </a:p>
        </p:txBody>
      </p:sp>
      <p:sp>
        <p:nvSpPr>
          <p:cNvPr id="24" name="Shape 22"/>
          <p:cNvSpPr/>
          <p:nvPr/>
        </p:nvSpPr>
        <p:spPr>
          <a:xfrm>
            <a:off x="9692640" y="4233672"/>
            <a:ext cx="1417320" cy="384048"/>
          </a:xfrm>
          <a:prstGeom prst="roundRect">
            <a:avLst>
              <a:gd name="adj" fmla="val 19048"/>
            </a:avLst>
          </a:prstGeom>
          <a:solidFill>
            <a:srgbClr val="EDF1F7"/>
          </a:solidFill>
          <a:ln w="12700">
            <a:solidFill>
              <a:srgbClr val="1E2A45"/>
            </a:solidFill>
            <a:prstDash val="solid"/>
          </a:ln>
        </p:spPr>
      </p:sp>
      <p:sp>
        <p:nvSpPr>
          <p:cNvPr id="25" name="Text 23"/>
          <p:cNvSpPr/>
          <p:nvPr/>
        </p:nvSpPr>
        <p:spPr>
          <a:xfrm>
            <a:off x="9692640" y="4233672"/>
            <a:ext cx="1417320" cy="384048"/>
          </a:xfrm>
          <a:prstGeom prst="rect">
            <a:avLst/>
          </a:prstGeom>
          <a:noFill/>
          <a:ln/>
        </p:spPr>
        <p:txBody>
          <a:bodyPr wrap="square" lIns="0" tIns="0" rIns="0" bIns="0" rtlCol="0" anchor="ctr"/>
          <a:lstStyle/>
          <a:p>
            <a:pPr marL="0" indent="0" algn="ctr">
              <a:buNone/>
            </a:pPr>
            <a:r>
              <a:rPr lang="en-US" sz="1050" b="1" dirty="0">
                <a:solidFill>
                  <a:srgbClr val="1E2A45"/>
                </a:solidFill>
                <a:latin typeface="Calibri" pitchFamily="34" charset="0"/>
                <a:ea typeface="Calibri" pitchFamily="34" charset="-122"/>
                <a:cs typeface="Calibri" pitchFamily="34" charset="-120"/>
              </a:rPr>
              <a:t>Confirmée</a:t>
            </a:r>
            <a:endParaRPr lang="en-US" sz="1050" dirty="0"/>
          </a:p>
        </p:txBody>
      </p:sp>
      <p:sp>
        <p:nvSpPr>
          <p:cNvPr id="26" name="Shape 24"/>
          <p:cNvSpPr/>
          <p:nvPr/>
        </p:nvSpPr>
        <p:spPr>
          <a:xfrm>
            <a:off x="640080" y="5577840"/>
            <a:ext cx="10927080" cy="0"/>
          </a:xfrm>
          <a:prstGeom prst="line">
            <a:avLst/>
          </a:prstGeom>
          <a:noFill/>
          <a:ln w="12700">
            <a:solidFill>
              <a:srgbClr val="DCE0E6"/>
            </a:solidFill>
            <a:prstDash val="solid"/>
          </a:ln>
        </p:spPr>
      </p:sp>
      <p:sp>
        <p:nvSpPr>
          <p:cNvPr id="27" name="Text 25"/>
          <p:cNvSpPr/>
          <p:nvPr/>
        </p:nvSpPr>
        <p:spPr>
          <a:xfrm>
            <a:off x="640080" y="4809744"/>
            <a:ext cx="822960" cy="768096"/>
          </a:xfrm>
          <a:prstGeom prst="rect">
            <a:avLst/>
          </a:prstGeom>
          <a:noFill/>
          <a:ln/>
        </p:spPr>
        <p:txBody>
          <a:bodyPr wrap="square" lIns="0" tIns="0" rIns="0" bIns="0" rtlCol="0" anchor="ctr"/>
          <a:lstStyle/>
          <a:p>
            <a:pPr marL="0" indent="0">
              <a:buNone/>
            </a:pPr>
            <a:r>
              <a:rPr lang="en-US" sz="1700" b="1" dirty="0">
                <a:solidFill>
                  <a:srgbClr val="16203A"/>
                </a:solidFill>
                <a:latin typeface="Cambria" pitchFamily="34" charset="0"/>
                <a:ea typeface="Cambria" pitchFamily="34" charset="-122"/>
                <a:cs typeface="Cambria" pitchFamily="34" charset="-120"/>
              </a:rPr>
              <a:t>H5</a:t>
            </a:r>
            <a:endParaRPr lang="en-US" sz="1700" dirty="0"/>
          </a:p>
        </p:txBody>
      </p:sp>
      <p:sp>
        <p:nvSpPr>
          <p:cNvPr id="28" name="Text 26"/>
          <p:cNvSpPr/>
          <p:nvPr/>
        </p:nvSpPr>
        <p:spPr>
          <a:xfrm>
            <a:off x="1554480" y="4809744"/>
            <a:ext cx="6949440" cy="768096"/>
          </a:xfrm>
          <a:prstGeom prst="rect">
            <a:avLst/>
          </a:prstGeom>
          <a:noFill/>
          <a:ln/>
        </p:spPr>
        <p:txBody>
          <a:bodyPr wrap="square" lIns="0" tIns="0" rIns="0" bIns="0" rtlCol="0" anchor="ctr"/>
          <a:lstStyle/>
          <a:p>
            <a:pPr marL="0" indent="0">
              <a:buNone/>
            </a:pPr>
            <a:r>
              <a:rPr lang="en-US" sz="1300" dirty="0">
                <a:solidFill>
                  <a:srgbClr val="16203A"/>
                </a:solidFill>
                <a:latin typeface="Calibri" pitchFamily="34" charset="0"/>
                <a:ea typeface="Calibri" pitchFamily="34" charset="-122"/>
                <a:cs typeface="Calibri" pitchFamily="34" charset="-120"/>
              </a:rPr>
              <a:t>La sensibilisation réduit l'impact négatif.</a:t>
            </a:r>
            <a:endParaRPr lang="en-US" sz="1300" dirty="0"/>
          </a:p>
        </p:txBody>
      </p:sp>
      <p:sp>
        <p:nvSpPr>
          <p:cNvPr id="29" name="Shape 27"/>
          <p:cNvSpPr/>
          <p:nvPr/>
        </p:nvSpPr>
        <p:spPr>
          <a:xfrm>
            <a:off x="9692640" y="5001768"/>
            <a:ext cx="1417320" cy="384048"/>
          </a:xfrm>
          <a:prstGeom prst="roundRect">
            <a:avLst>
              <a:gd name="adj" fmla="val 19048"/>
            </a:avLst>
          </a:prstGeom>
          <a:solidFill>
            <a:srgbClr val="EDF1F7"/>
          </a:solidFill>
          <a:ln w="12700">
            <a:solidFill>
              <a:srgbClr val="1E2A45"/>
            </a:solidFill>
            <a:prstDash val="solid"/>
          </a:ln>
        </p:spPr>
      </p:sp>
      <p:sp>
        <p:nvSpPr>
          <p:cNvPr id="30" name="Text 28"/>
          <p:cNvSpPr/>
          <p:nvPr/>
        </p:nvSpPr>
        <p:spPr>
          <a:xfrm>
            <a:off x="9692640" y="5001768"/>
            <a:ext cx="1417320" cy="384048"/>
          </a:xfrm>
          <a:prstGeom prst="rect">
            <a:avLst/>
          </a:prstGeom>
          <a:noFill/>
          <a:ln/>
        </p:spPr>
        <p:txBody>
          <a:bodyPr wrap="square" lIns="0" tIns="0" rIns="0" bIns="0" rtlCol="0" anchor="ctr"/>
          <a:lstStyle/>
          <a:p>
            <a:pPr marL="0" indent="0" algn="ctr">
              <a:buNone/>
            </a:pPr>
            <a:r>
              <a:rPr lang="en-US" sz="1050" b="1" dirty="0">
                <a:solidFill>
                  <a:srgbClr val="1E2A45"/>
                </a:solidFill>
                <a:latin typeface="Calibri" pitchFamily="34" charset="0"/>
                <a:ea typeface="Calibri" pitchFamily="34" charset="-122"/>
                <a:cs typeface="Calibri" pitchFamily="34" charset="-120"/>
              </a:rPr>
              <a:t>Confirmée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292608"/>
          </a:xfrm>
          <a:prstGeom prst="rect">
            <a:avLst/>
          </a:prstGeom>
          <a:noFill/>
          <a:ln/>
        </p:spPr>
        <p:txBody>
          <a:bodyPr wrap="square" lIns="0" tIns="0" rIns="0" bIns="0" rtlCol="0" anchor="ctr"/>
          <a:lstStyle/>
          <a:p>
            <a:pPr marL="0" indent="0">
              <a:buNone/>
            </a:pPr>
            <a:r>
              <a:rPr lang="en-US" sz="1150" b="1" kern="0" spc="220" dirty="0">
                <a:solidFill>
                  <a:srgbClr val="1E2A45"/>
                </a:solidFill>
                <a:latin typeface="Calibri" pitchFamily="34" charset="0"/>
                <a:ea typeface="Calibri" pitchFamily="34" charset="-122"/>
                <a:cs typeface="Calibri" pitchFamily="34" charset="-120"/>
              </a:rPr>
              <a:t>06 — SOLUTIONS</a:t>
            </a:r>
            <a:endParaRPr lang="en-US" sz="1150" dirty="0"/>
          </a:p>
        </p:txBody>
      </p:sp>
      <p:sp>
        <p:nvSpPr>
          <p:cNvPr id="3" name="Text 1"/>
          <p:cNvSpPr/>
          <p:nvPr/>
        </p:nvSpPr>
        <p:spPr>
          <a:xfrm>
            <a:off x="640080" y="713232"/>
            <a:ext cx="10607040" cy="640080"/>
          </a:xfrm>
          <a:prstGeom prst="rect">
            <a:avLst/>
          </a:prstGeom>
          <a:noFill/>
          <a:ln/>
        </p:spPr>
        <p:txBody>
          <a:bodyPr wrap="square" lIns="0" tIns="0" rIns="0" bIns="0" rtlCol="0" anchor="ctr"/>
          <a:lstStyle/>
          <a:p>
            <a:pPr marL="0" indent="0">
              <a:buNone/>
            </a:pPr>
            <a:r>
              <a:rPr lang="en-US" sz="3000" b="1" dirty="0">
                <a:solidFill>
                  <a:srgbClr val="16203A"/>
                </a:solidFill>
                <a:latin typeface="Cambria" pitchFamily="34" charset="0"/>
                <a:ea typeface="Cambria" pitchFamily="34" charset="-122"/>
                <a:cs typeface="Cambria" pitchFamily="34" charset="-120"/>
              </a:rPr>
              <a:t>Pistes pédagogiques proposées</a:t>
            </a:r>
            <a:endParaRPr lang="en-US" sz="3000" dirty="0"/>
          </a:p>
        </p:txBody>
      </p:sp>
      <p:sp>
        <p:nvSpPr>
          <p:cNvPr id="4" name="Text 2"/>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900" dirty="0">
                <a:solidFill>
                  <a:srgbClr val="8A92A0"/>
                </a:solidFill>
                <a:latin typeface="Calibri" pitchFamily="34" charset="0"/>
                <a:ea typeface="Calibri" pitchFamily="34" charset="-122"/>
                <a:cs typeface="Calibri" pitchFamily="34" charset="-120"/>
              </a:rPr>
              <a:t>11 / 13</a:t>
            </a:r>
            <a:endParaRPr lang="en-US" sz="900" dirty="0"/>
          </a:p>
        </p:txBody>
      </p:sp>
      <p:sp>
        <p:nvSpPr>
          <p:cNvPr id="5" name="Text 3"/>
          <p:cNvSpPr/>
          <p:nvPr/>
        </p:nvSpPr>
        <p:spPr>
          <a:xfrm>
            <a:off x="640080" y="6446520"/>
            <a:ext cx="6400800" cy="274320"/>
          </a:xfrm>
          <a:prstGeom prst="rect">
            <a:avLst/>
          </a:prstGeom>
          <a:noFill/>
          <a:ln/>
        </p:spPr>
        <p:txBody>
          <a:bodyPr wrap="square" lIns="0" tIns="0" rIns="0" bIns="0" rtlCol="0" anchor="ctr"/>
          <a:lstStyle/>
          <a:p>
            <a:pPr marL="0" indent="0">
              <a:buNone/>
            </a:pPr>
            <a:r>
              <a:rPr lang="en-US" sz="900" kern="0" spc="100" dirty="0">
                <a:solidFill>
                  <a:srgbClr val="8A92A0"/>
                </a:solidFill>
                <a:latin typeface="Calibri" pitchFamily="34" charset="0"/>
                <a:ea typeface="Calibri" pitchFamily="34" charset="-122"/>
                <a:cs typeface="Calibri" pitchFamily="34" charset="-120"/>
              </a:rPr>
              <a:t>PROJET PERSONNEL ENCADRÉ  •  CRMEF CASABLANCA-SETTAT</a:t>
            </a:r>
            <a:endParaRPr lang="en-US" sz="900" dirty="0"/>
          </a:p>
        </p:txBody>
      </p:sp>
      <p:sp>
        <p:nvSpPr>
          <p:cNvPr id="6" name="Shape 4"/>
          <p:cNvSpPr/>
          <p:nvPr/>
        </p:nvSpPr>
        <p:spPr>
          <a:xfrm>
            <a:off x="640080" y="1920240"/>
            <a:ext cx="2075688" cy="3200400"/>
          </a:xfrm>
          <a:prstGeom prst="rect">
            <a:avLst/>
          </a:prstGeom>
          <a:solidFill>
            <a:srgbClr val="16203A"/>
          </a:solidFill>
          <a:ln w="12700">
            <a:solidFill>
              <a:srgbClr val="000000"/>
            </a:solidFill>
            <a:prstDash val="solid"/>
          </a:ln>
        </p:spPr>
      </p:sp>
      <p:sp>
        <p:nvSpPr>
          <p:cNvPr id="7" name="Shape 5"/>
          <p:cNvSpPr/>
          <p:nvPr/>
        </p:nvSpPr>
        <p:spPr>
          <a:xfrm>
            <a:off x="1357884" y="2240280"/>
            <a:ext cx="640080" cy="640080"/>
          </a:xfrm>
          <a:prstGeom prst="ellipse">
            <a:avLst/>
          </a:prstGeom>
          <a:solidFill>
            <a:srgbClr val="1E2A45"/>
          </a:solidFill>
          <a:ln/>
        </p:spPr>
      </p:sp>
      <p:pic>
        <p:nvPicPr>
          <p:cNvPr id="8" name="Image 0" descr="icons/laptop_white.png"/>
          <p:cNvPicPr>
            <a:picLocks noChangeAspect="1"/>
          </p:cNvPicPr>
          <p:nvPr/>
        </p:nvPicPr>
        <p:blipFill>
          <a:blip r:embed="rId3"/>
          <a:stretch>
            <a:fillRect/>
          </a:stretch>
        </p:blipFill>
        <p:spPr>
          <a:xfrm>
            <a:off x="1495044" y="2377440"/>
            <a:ext cx="365760" cy="365760"/>
          </a:xfrm>
          <a:prstGeom prst="rect">
            <a:avLst/>
          </a:prstGeom>
        </p:spPr>
      </p:pic>
      <p:sp>
        <p:nvSpPr>
          <p:cNvPr id="9" name="Text 6"/>
          <p:cNvSpPr/>
          <p:nvPr/>
        </p:nvSpPr>
        <p:spPr>
          <a:xfrm>
            <a:off x="777240" y="3108960"/>
            <a:ext cx="1801368" cy="685800"/>
          </a:xfrm>
          <a:prstGeom prst="rect">
            <a:avLst/>
          </a:prstGeom>
          <a:noFill/>
          <a:ln/>
        </p:spPr>
        <p:txBody>
          <a:bodyPr wrap="square" lIns="0" tIns="0" rIns="0" bIns="0" rtlCol="0" anchor="ctr"/>
          <a:lstStyle/>
          <a:p>
            <a:pPr marL="0" indent="0" algn="ctr">
              <a:lnSpc>
                <a:spcPct val="115000"/>
              </a:lnSpc>
              <a:buNone/>
            </a:pPr>
            <a:r>
              <a:rPr lang="en-US" sz="1250" b="1" dirty="0">
                <a:solidFill>
                  <a:srgbClr val="FFFFFF"/>
                </a:solidFill>
                <a:latin typeface="Calibri" pitchFamily="34" charset="0"/>
                <a:ea typeface="Calibri" pitchFamily="34" charset="-122"/>
                <a:cs typeface="Calibri" pitchFamily="34" charset="-120"/>
              </a:rPr>
              <a:t>Numérique éducatif</a:t>
            </a:r>
            <a:endParaRPr lang="en-US" sz="1250" dirty="0"/>
          </a:p>
        </p:txBody>
      </p:sp>
      <p:sp>
        <p:nvSpPr>
          <p:cNvPr id="10" name="Text 7"/>
          <p:cNvSpPr/>
          <p:nvPr/>
        </p:nvSpPr>
        <p:spPr>
          <a:xfrm>
            <a:off x="804672" y="3794760"/>
            <a:ext cx="1746504" cy="1188720"/>
          </a:xfrm>
          <a:prstGeom prst="rect">
            <a:avLst/>
          </a:prstGeom>
          <a:noFill/>
          <a:ln/>
        </p:spPr>
        <p:txBody>
          <a:bodyPr wrap="square" lIns="0" tIns="0" rIns="0" bIns="0" rtlCol="0" anchor="ctr"/>
          <a:lstStyle/>
          <a:p>
            <a:pPr marL="0" indent="0" algn="ctr">
              <a:lnSpc>
                <a:spcPct val="130000"/>
              </a:lnSpc>
              <a:buNone/>
            </a:pPr>
            <a:r>
              <a:rPr lang="en-US" sz="1050" dirty="0">
                <a:solidFill>
                  <a:srgbClr val="B9C2D6"/>
                </a:solidFill>
                <a:latin typeface="Calibri" pitchFamily="34" charset="0"/>
                <a:ea typeface="Calibri" pitchFamily="34" charset="-122"/>
                <a:cs typeface="Calibri" pitchFamily="34" charset="-120"/>
              </a:rPr>
              <a:t>Transformer le téléphone en outil d'apprentissage</a:t>
            </a:r>
            <a:endParaRPr lang="en-US" sz="1050" dirty="0"/>
          </a:p>
        </p:txBody>
      </p:sp>
      <p:sp>
        <p:nvSpPr>
          <p:cNvPr id="11" name="Shape 8"/>
          <p:cNvSpPr/>
          <p:nvPr/>
        </p:nvSpPr>
        <p:spPr>
          <a:xfrm>
            <a:off x="2880360" y="1920240"/>
            <a:ext cx="2075688" cy="3200400"/>
          </a:xfrm>
          <a:prstGeom prst="rect">
            <a:avLst/>
          </a:prstGeom>
          <a:solidFill>
            <a:srgbClr val="FFFFFF"/>
          </a:solidFill>
          <a:ln w="12700">
            <a:solidFill>
              <a:srgbClr val="DCE0E6"/>
            </a:solidFill>
            <a:prstDash val="solid"/>
          </a:ln>
        </p:spPr>
      </p:sp>
      <p:sp>
        <p:nvSpPr>
          <p:cNvPr id="12" name="Shape 9"/>
          <p:cNvSpPr/>
          <p:nvPr/>
        </p:nvSpPr>
        <p:spPr>
          <a:xfrm>
            <a:off x="2880360" y="1920240"/>
            <a:ext cx="2075688" cy="3200400"/>
          </a:xfrm>
          <a:prstGeom prst="rect">
            <a:avLst/>
          </a:prstGeom>
          <a:solidFill>
            <a:srgbClr val="F7F8FA"/>
          </a:solidFill>
          <a:ln w="12700">
            <a:solidFill>
              <a:srgbClr val="DCE0E6"/>
            </a:solidFill>
            <a:prstDash val="solid"/>
          </a:ln>
        </p:spPr>
      </p:sp>
      <p:sp>
        <p:nvSpPr>
          <p:cNvPr id="13" name="Shape 10"/>
          <p:cNvSpPr/>
          <p:nvPr/>
        </p:nvSpPr>
        <p:spPr>
          <a:xfrm>
            <a:off x="3598164" y="2240280"/>
            <a:ext cx="640080" cy="640080"/>
          </a:xfrm>
          <a:prstGeom prst="ellipse">
            <a:avLst/>
          </a:prstGeom>
          <a:solidFill>
            <a:srgbClr val="1E2A45"/>
          </a:solidFill>
          <a:ln/>
        </p:spPr>
      </p:sp>
      <p:pic>
        <p:nvPicPr>
          <p:cNvPr id="14" name="Image 1" descr="icons/bullhorn_white.png"/>
          <p:cNvPicPr>
            <a:picLocks noChangeAspect="1"/>
          </p:cNvPicPr>
          <p:nvPr/>
        </p:nvPicPr>
        <p:blipFill>
          <a:blip r:embed="rId4"/>
          <a:stretch>
            <a:fillRect/>
          </a:stretch>
        </p:blipFill>
        <p:spPr>
          <a:xfrm>
            <a:off x="3735324" y="2377440"/>
            <a:ext cx="365760" cy="365760"/>
          </a:xfrm>
          <a:prstGeom prst="rect">
            <a:avLst/>
          </a:prstGeom>
        </p:spPr>
      </p:pic>
      <p:sp>
        <p:nvSpPr>
          <p:cNvPr id="15" name="Text 11"/>
          <p:cNvSpPr/>
          <p:nvPr/>
        </p:nvSpPr>
        <p:spPr>
          <a:xfrm>
            <a:off x="3017520" y="3108960"/>
            <a:ext cx="1801368" cy="685800"/>
          </a:xfrm>
          <a:prstGeom prst="rect">
            <a:avLst/>
          </a:prstGeom>
          <a:noFill/>
          <a:ln/>
        </p:spPr>
        <p:txBody>
          <a:bodyPr wrap="square" lIns="0" tIns="0" rIns="0" bIns="0" rtlCol="0" anchor="ctr"/>
          <a:lstStyle/>
          <a:p>
            <a:pPr marL="0" indent="0" algn="ctr">
              <a:lnSpc>
                <a:spcPct val="115000"/>
              </a:lnSpc>
              <a:buNone/>
            </a:pPr>
            <a:r>
              <a:rPr lang="en-US" sz="1250" b="1" dirty="0">
                <a:solidFill>
                  <a:srgbClr val="16203A"/>
                </a:solidFill>
                <a:latin typeface="Calibri" pitchFamily="34" charset="0"/>
                <a:ea typeface="Calibri" pitchFamily="34" charset="-122"/>
                <a:cs typeface="Calibri" pitchFamily="34" charset="-120"/>
              </a:rPr>
              <a:t>Sensibilisation</a:t>
            </a:r>
            <a:endParaRPr lang="en-US" sz="1250" dirty="0"/>
          </a:p>
        </p:txBody>
      </p:sp>
      <p:sp>
        <p:nvSpPr>
          <p:cNvPr id="16" name="Text 12"/>
          <p:cNvSpPr/>
          <p:nvPr/>
        </p:nvSpPr>
        <p:spPr>
          <a:xfrm>
            <a:off x="3044952" y="3794760"/>
            <a:ext cx="1746504" cy="1188720"/>
          </a:xfrm>
          <a:prstGeom prst="rect">
            <a:avLst/>
          </a:prstGeom>
          <a:noFill/>
          <a:ln/>
        </p:spPr>
        <p:txBody>
          <a:bodyPr wrap="square" lIns="0" tIns="0" rIns="0" bIns="0" rtlCol="0" anchor="ctr"/>
          <a:lstStyle/>
          <a:p>
            <a:pPr marL="0" indent="0" algn="ctr">
              <a:lnSpc>
                <a:spcPct val="130000"/>
              </a:lnSpc>
              <a:buNone/>
            </a:pPr>
            <a:r>
              <a:rPr lang="en-US" sz="1050" dirty="0">
                <a:solidFill>
                  <a:srgbClr val="5B6470"/>
                </a:solidFill>
                <a:latin typeface="Calibri" pitchFamily="34" charset="0"/>
                <a:ea typeface="Calibri" pitchFamily="34" charset="-122"/>
                <a:cs typeface="Calibri" pitchFamily="34" charset="-120"/>
              </a:rPr>
              <a:t>Éducation à l'usage responsable des réseaux sociaux</a:t>
            </a:r>
            <a:endParaRPr lang="en-US" sz="1050" dirty="0"/>
          </a:p>
        </p:txBody>
      </p:sp>
      <p:sp>
        <p:nvSpPr>
          <p:cNvPr id="17" name="Shape 13"/>
          <p:cNvSpPr/>
          <p:nvPr/>
        </p:nvSpPr>
        <p:spPr>
          <a:xfrm>
            <a:off x="5120640" y="1920240"/>
            <a:ext cx="2075688" cy="3200400"/>
          </a:xfrm>
          <a:prstGeom prst="rect">
            <a:avLst/>
          </a:prstGeom>
          <a:solidFill>
            <a:srgbClr val="FFFFFF"/>
          </a:solidFill>
          <a:ln w="12700">
            <a:solidFill>
              <a:srgbClr val="DCE0E6"/>
            </a:solidFill>
            <a:prstDash val="solid"/>
          </a:ln>
        </p:spPr>
      </p:sp>
      <p:sp>
        <p:nvSpPr>
          <p:cNvPr id="18" name="Shape 14"/>
          <p:cNvSpPr/>
          <p:nvPr/>
        </p:nvSpPr>
        <p:spPr>
          <a:xfrm>
            <a:off x="5120640" y="1920240"/>
            <a:ext cx="2075688" cy="3200400"/>
          </a:xfrm>
          <a:prstGeom prst="rect">
            <a:avLst/>
          </a:prstGeom>
          <a:solidFill>
            <a:srgbClr val="F7F8FA"/>
          </a:solidFill>
          <a:ln w="12700">
            <a:solidFill>
              <a:srgbClr val="DCE0E6"/>
            </a:solidFill>
            <a:prstDash val="solid"/>
          </a:ln>
        </p:spPr>
      </p:sp>
      <p:sp>
        <p:nvSpPr>
          <p:cNvPr id="19" name="Shape 15"/>
          <p:cNvSpPr/>
          <p:nvPr/>
        </p:nvSpPr>
        <p:spPr>
          <a:xfrm>
            <a:off x="5838444" y="2240280"/>
            <a:ext cx="640080" cy="640080"/>
          </a:xfrm>
          <a:prstGeom prst="ellipse">
            <a:avLst/>
          </a:prstGeom>
          <a:solidFill>
            <a:srgbClr val="1E2A45"/>
          </a:solidFill>
          <a:ln/>
        </p:spPr>
      </p:sp>
      <p:pic>
        <p:nvPicPr>
          <p:cNvPr id="20" name="Image 2" descr="icons/hands_white.png"/>
          <p:cNvPicPr>
            <a:picLocks noChangeAspect="1"/>
          </p:cNvPicPr>
          <p:nvPr/>
        </p:nvPicPr>
        <p:blipFill>
          <a:blip r:embed="rId5"/>
          <a:stretch>
            <a:fillRect/>
          </a:stretch>
        </p:blipFill>
        <p:spPr>
          <a:xfrm>
            <a:off x="5975604" y="2377440"/>
            <a:ext cx="365760" cy="365760"/>
          </a:xfrm>
          <a:prstGeom prst="rect">
            <a:avLst/>
          </a:prstGeom>
        </p:spPr>
      </p:pic>
      <p:sp>
        <p:nvSpPr>
          <p:cNvPr id="21" name="Text 16"/>
          <p:cNvSpPr/>
          <p:nvPr/>
        </p:nvSpPr>
        <p:spPr>
          <a:xfrm>
            <a:off x="5257800" y="3108960"/>
            <a:ext cx="1801368" cy="685800"/>
          </a:xfrm>
          <a:prstGeom prst="rect">
            <a:avLst/>
          </a:prstGeom>
          <a:noFill/>
          <a:ln/>
        </p:spPr>
        <p:txBody>
          <a:bodyPr wrap="square" lIns="0" tIns="0" rIns="0" bIns="0" rtlCol="0" anchor="ctr"/>
          <a:lstStyle/>
          <a:p>
            <a:pPr marL="0" indent="0" algn="ctr">
              <a:lnSpc>
                <a:spcPct val="115000"/>
              </a:lnSpc>
              <a:buNone/>
            </a:pPr>
            <a:r>
              <a:rPr lang="en-US" sz="1250" b="1" dirty="0">
                <a:solidFill>
                  <a:srgbClr val="16203A"/>
                </a:solidFill>
                <a:latin typeface="Calibri" pitchFamily="34" charset="0"/>
                <a:ea typeface="Calibri" pitchFamily="34" charset="-122"/>
                <a:cs typeface="Calibri" pitchFamily="34" charset="-120"/>
              </a:rPr>
              <a:t>Collaboration parents-école</a:t>
            </a:r>
            <a:endParaRPr lang="en-US" sz="1250" dirty="0"/>
          </a:p>
        </p:txBody>
      </p:sp>
      <p:sp>
        <p:nvSpPr>
          <p:cNvPr id="22" name="Text 17"/>
          <p:cNvSpPr/>
          <p:nvPr/>
        </p:nvSpPr>
        <p:spPr>
          <a:xfrm>
            <a:off x="5285232" y="3794760"/>
            <a:ext cx="1746504" cy="1188720"/>
          </a:xfrm>
          <a:prstGeom prst="rect">
            <a:avLst/>
          </a:prstGeom>
          <a:noFill/>
          <a:ln/>
        </p:spPr>
        <p:txBody>
          <a:bodyPr wrap="square" lIns="0" tIns="0" rIns="0" bIns="0" rtlCol="0" anchor="ctr"/>
          <a:lstStyle/>
          <a:p>
            <a:pPr marL="0" indent="0" algn="ctr">
              <a:lnSpc>
                <a:spcPct val="130000"/>
              </a:lnSpc>
              <a:buNone/>
            </a:pPr>
            <a:r>
              <a:rPr lang="en-US" sz="1050" dirty="0">
                <a:solidFill>
                  <a:srgbClr val="5B6470"/>
                </a:solidFill>
                <a:latin typeface="Calibri" pitchFamily="34" charset="0"/>
                <a:ea typeface="Calibri" pitchFamily="34" charset="-122"/>
                <a:cs typeface="Calibri" pitchFamily="34" charset="-120"/>
              </a:rPr>
              <a:t>Impliquer les familles dans le suivi des écrans</a:t>
            </a:r>
            <a:endParaRPr lang="en-US" sz="1050" dirty="0"/>
          </a:p>
        </p:txBody>
      </p:sp>
      <p:sp>
        <p:nvSpPr>
          <p:cNvPr id="23" name="Shape 18"/>
          <p:cNvSpPr/>
          <p:nvPr/>
        </p:nvSpPr>
        <p:spPr>
          <a:xfrm>
            <a:off x="7360920" y="1920240"/>
            <a:ext cx="2075688" cy="3200400"/>
          </a:xfrm>
          <a:prstGeom prst="rect">
            <a:avLst/>
          </a:prstGeom>
          <a:solidFill>
            <a:srgbClr val="FFFFFF"/>
          </a:solidFill>
          <a:ln w="12700">
            <a:solidFill>
              <a:srgbClr val="DCE0E6"/>
            </a:solidFill>
            <a:prstDash val="solid"/>
          </a:ln>
        </p:spPr>
      </p:sp>
      <p:sp>
        <p:nvSpPr>
          <p:cNvPr id="24" name="Shape 19"/>
          <p:cNvSpPr/>
          <p:nvPr/>
        </p:nvSpPr>
        <p:spPr>
          <a:xfrm>
            <a:off x="7360920" y="1920240"/>
            <a:ext cx="2075688" cy="3200400"/>
          </a:xfrm>
          <a:prstGeom prst="rect">
            <a:avLst/>
          </a:prstGeom>
          <a:solidFill>
            <a:srgbClr val="F7F8FA"/>
          </a:solidFill>
          <a:ln w="12700">
            <a:solidFill>
              <a:srgbClr val="DCE0E6"/>
            </a:solidFill>
            <a:prstDash val="solid"/>
          </a:ln>
        </p:spPr>
      </p:sp>
      <p:sp>
        <p:nvSpPr>
          <p:cNvPr id="25" name="Shape 20"/>
          <p:cNvSpPr/>
          <p:nvPr/>
        </p:nvSpPr>
        <p:spPr>
          <a:xfrm>
            <a:off x="8078724" y="2240280"/>
            <a:ext cx="640080" cy="640080"/>
          </a:xfrm>
          <a:prstGeom prst="ellipse">
            <a:avLst/>
          </a:prstGeom>
          <a:solidFill>
            <a:srgbClr val="1E2A45"/>
          </a:solidFill>
          <a:ln/>
        </p:spPr>
      </p:sp>
      <p:pic>
        <p:nvPicPr>
          <p:cNvPr id="26" name="Image 3" descr="icons/clock_white.png"/>
          <p:cNvPicPr>
            <a:picLocks noChangeAspect="1"/>
          </p:cNvPicPr>
          <p:nvPr/>
        </p:nvPicPr>
        <p:blipFill>
          <a:blip r:embed="rId6"/>
          <a:stretch>
            <a:fillRect/>
          </a:stretch>
        </p:blipFill>
        <p:spPr>
          <a:xfrm>
            <a:off x="8215884" y="2377440"/>
            <a:ext cx="365760" cy="365760"/>
          </a:xfrm>
          <a:prstGeom prst="rect">
            <a:avLst/>
          </a:prstGeom>
        </p:spPr>
      </p:pic>
      <p:sp>
        <p:nvSpPr>
          <p:cNvPr id="27" name="Text 21"/>
          <p:cNvSpPr/>
          <p:nvPr/>
        </p:nvSpPr>
        <p:spPr>
          <a:xfrm>
            <a:off x="7498080" y="3108960"/>
            <a:ext cx="1801368" cy="685800"/>
          </a:xfrm>
          <a:prstGeom prst="rect">
            <a:avLst/>
          </a:prstGeom>
          <a:noFill/>
          <a:ln/>
        </p:spPr>
        <p:txBody>
          <a:bodyPr wrap="square" lIns="0" tIns="0" rIns="0" bIns="0" rtlCol="0" anchor="ctr"/>
          <a:lstStyle/>
          <a:p>
            <a:pPr marL="0" indent="0" algn="ctr">
              <a:lnSpc>
                <a:spcPct val="115000"/>
              </a:lnSpc>
              <a:buNone/>
            </a:pPr>
            <a:r>
              <a:rPr lang="en-US" sz="1250" b="1" dirty="0">
                <a:solidFill>
                  <a:srgbClr val="16203A"/>
                </a:solidFill>
                <a:latin typeface="Calibri" pitchFamily="34" charset="0"/>
                <a:ea typeface="Calibri" pitchFamily="34" charset="-122"/>
                <a:cs typeface="Calibri" pitchFamily="34" charset="-120"/>
              </a:rPr>
              <a:t>Limitation du temps d'écran</a:t>
            </a:r>
            <a:endParaRPr lang="en-US" sz="1250" dirty="0"/>
          </a:p>
        </p:txBody>
      </p:sp>
      <p:sp>
        <p:nvSpPr>
          <p:cNvPr id="28" name="Text 22"/>
          <p:cNvSpPr/>
          <p:nvPr/>
        </p:nvSpPr>
        <p:spPr>
          <a:xfrm>
            <a:off x="7525512" y="3794760"/>
            <a:ext cx="1746504" cy="1188720"/>
          </a:xfrm>
          <a:prstGeom prst="rect">
            <a:avLst/>
          </a:prstGeom>
          <a:noFill/>
          <a:ln/>
        </p:spPr>
        <p:txBody>
          <a:bodyPr wrap="square" lIns="0" tIns="0" rIns="0" bIns="0" rtlCol="0" anchor="ctr"/>
          <a:lstStyle/>
          <a:p>
            <a:pPr marL="0" indent="0" algn="ctr">
              <a:lnSpc>
                <a:spcPct val="130000"/>
              </a:lnSpc>
              <a:buNone/>
            </a:pPr>
            <a:r>
              <a:rPr lang="en-US" sz="1050" dirty="0">
                <a:solidFill>
                  <a:srgbClr val="5B6470"/>
                </a:solidFill>
                <a:latin typeface="Calibri" pitchFamily="34" charset="0"/>
                <a:ea typeface="Calibri" pitchFamily="34" charset="-122"/>
                <a:cs typeface="Calibri" pitchFamily="34" charset="-120"/>
              </a:rPr>
              <a:t>Gestion équilibrée du temps numérique</a:t>
            </a:r>
            <a:endParaRPr lang="en-US" sz="1050" dirty="0"/>
          </a:p>
        </p:txBody>
      </p:sp>
      <p:sp>
        <p:nvSpPr>
          <p:cNvPr id="29" name="Shape 23"/>
          <p:cNvSpPr/>
          <p:nvPr/>
        </p:nvSpPr>
        <p:spPr>
          <a:xfrm>
            <a:off x="9601200" y="1920240"/>
            <a:ext cx="2075688" cy="3200400"/>
          </a:xfrm>
          <a:prstGeom prst="rect">
            <a:avLst/>
          </a:prstGeom>
          <a:solidFill>
            <a:srgbClr val="FFFFFF"/>
          </a:solidFill>
          <a:ln w="12700">
            <a:solidFill>
              <a:srgbClr val="DCE0E6"/>
            </a:solidFill>
            <a:prstDash val="solid"/>
          </a:ln>
        </p:spPr>
      </p:sp>
      <p:sp>
        <p:nvSpPr>
          <p:cNvPr id="30" name="Shape 24"/>
          <p:cNvSpPr/>
          <p:nvPr/>
        </p:nvSpPr>
        <p:spPr>
          <a:xfrm>
            <a:off x="9601200" y="1920240"/>
            <a:ext cx="2075688" cy="3200400"/>
          </a:xfrm>
          <a:prstGeom prst="rect">
            <a:avLst/>
          </a:prstGeom>
          <a:solidFill>
            <a:srgbClr val="F7F8FA"/>
          </a:solidFill>
          <a:ln w="12700">
            <a:solidFill>
              <a:srgbClr val="DCE0E6"/>
            </a:solidFill>
            <a:prstDash val="solid"/>
          </a:ln>
        </p:spPr>
      </p:sp>
      <p:sp>
        <p:nvSpPr>
          <p:cNvPr id="31" name="Shape 25"/>
          <p:cNvSpPr/>
          <p:nvPr/>
        </p:nvSpPr>
        <p:spPr>
          <a:xfrm>
            <a:off x="10319004" y="2240280"/>
            <a:ext cx="640080" cy="640080"/>
          </a:xfrm>
          <a:prstGeom prst="ellipse">
            <a:avLst/>
          </a:prstGeom>
          <a:solidFill>
            <a:srgbClr val="1E2A45"/>
          </a:solidFill>
          <a:ln/>
        </p:spPr>
      </p:sp>
      <p:pic>
        <p:nvPicPr>
          <p:cNvPr id="32" name="Image 4" descr="icons/running_white.png"/>
          <p:cNvPicPr>
            <a:picLocks noChangeAspect="1"/>
          </p:cNvPicPr>
          <p:nvPr/>
        </p:nvPicPr>
        <p:blipFill>
          <a:blip r:embed="rId7"/>
          <a:stretch>
            <a:fillRect/>
          </a:stretch>
        </p:blipFill>
        <p:spPr>
          <a:xfrm>
            <a:off x="10456164" y="2377440"/>
            <a:ext cx="365760" cy="365760"/>
          </a:xfrm>
          <a:prstGeom prst="rect">
            <a:avLst/>
          </a:prstGeom>
        </p:spPr>
      </p:pic>
      <p:sp>
        <p:nvSpPr>
          <p:cNvPr id="33" name="Text 26"/>
          <p:cNvSpPr/>
          <p:nvPr/>
        </p:nvSpPr>
        <p:spPr>
          <a:xfrm>
            <a:off x="9738360" y="3108960"/>
            <a:ext cx="1801368" cy="685800"/>
          </a:xfrm>
          <a:prstGeom prst="rect">
            <a:avLst/>
          </a:prstGeom>
          <a:noFill/>
          <a:ln/>
        </p:spPr>
        <p:txBody>
          <a:bodyPr wrap="square" lIns="0" tIns="0" rIns="0" bIns="0" rtlCol="0" anchor="ctr"/>
          <a:lstStyle/>
          <a:p>
            <a:pPr marL="0" indent="0" algn="ctr">
              <a:lnSpc>
                <a:spcPct val="115000"/>
              </a:lnSpc>
              <a:buNone/>
            </a:pPr>
            <a:r>
              <a:rPr lang="en-US" sz="1250" b="1" dirty="0">
                <a:solidFill>
                  <a:srgbClr val="16203A"/>
                </a:solidFill>
                <a:latin typeface="Calibri" pitchFamily="34" charset="0"/>
                <a:ea typeface="Calibri" pitchFamily="34" charset="-122"/>
                <a:cs typeface="Calibri" pitchFamily="34" charset="-120"/>
              </a:rPr>
              <a:t>Activités extra-scolaires</a:t>
            </a:r>
            <a:endParaRPr lang="en-US" sz="1250" dirty="0"/>
          </a:p>
        </p:txBody>
      </p:sp>
      <p:sp>
        <p:nvSpPr>
          <p:cNvPr id="34" name="Text 27"/>
          <p:cNvSpPr/>
          <p:nvPr/>
        </p:nvSpPr>
        <p:spPr>
          <a:xfrm>
            <a:off x="9765792" y="3794760"/>
            <a:ext cx="1746504" cy="1188720"/>
          </a:xfrm>
          <a:prstGeom prst="rect">
            <a:avLst/>
          </a:prstGeom>
          <a:noFill/>
          <a:ln/>
        </p:spPr>
        <p:txBody>
          <a:bodyPr wrap="square" lIns="0" tIns="0" rIns="0" bIns="0" rtlCol="0" anchor="ctr"/>
          <a:lstStyle/>
          <a:p>
            <a:pPr marL="0" indent="0" algn="ctr">
              <a:lnSpc>
                <a:spcPct val="130000"/>
              </a:lnSpc>
              <a:buNone/>
            </a:pPr>
            <a:r>
              <a:rPr lang="en-US" sz="1050" dirty="0">
                <a:solidFill>
                  <a:srgbClr val="5B6470"/>
                </a:solidFill>
                <a:latin typeface="Calibri" pitchFamily="34" charset="0"/>
                <a:ea typeface="Calibri" pitchFamily="34" charset="-122"/>
                <a:cs typeface="Calibri" pitchFamily="34" charset="-120"/>
              </a:rPr>
              <a:t>Promouvoir le sport et la culture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03A"/>
        </a:solidFill>
        <a:effectLst/>
      </p:bgPr>
    </p:bg>
    <p:spTree>
      <p:nvGrpSpPr>
        <p:cNvPr id="1" name=""/>
        <p:cNvGrpSpPr/>
        <p:nvPr/>
      </p:nvGrpSpPr>
      <p:grpSpPr>
        <a:xfrm>
          <a:off x="0" y="0"/>
          <a:ext cx="0" cy="0"/>
          <a:chOff x="0" y="0"/>
          <a:chExt cx="0" cy="0"/>
        </a:xfrm>
      </p:grpSpPr>
      <p:sp>
        <p:nvSpPr>
          <p:cNvPr id="2" name="Text 0"/>
          <p:cNvSpPr/>
          <p:nvPr/>
        </p:nvSpPr>
        <p:spPr>
          <a:xfrm>
            <a:off x="11002975" y="6446520"/>
            <a:ext cx="914400" cy="274320"/>
          </a:xfrm>
          <a:prstGeom prst="rect">
            <a:avLst/>
          </a:prstGeom>
          <a:noFill/>
          <a:ln/>
        </p:spPr>
        <p:txBody>
          <a:bodyPr wrap="square" lIns="0" tIns="0" rIns="0" bIns="0" rtlCol="0" anchor="ctr"/>
          <a:lstStyle/>
          <a:p>
            <a:pPr marL="0" indent="0" algn="r">
              <a:buNone/>
            </a:pPr>
            <a:r>
              <a:rPr lang="en-US" sz="900" dirty="0">
                <a:solidFill>
                  <a:srgbClr val="8A92A0"/>
                </a:solidFill>
                <a:latin typeface="Calibri" pitchFamily="34" charset="0"/>
                <a:ea typeface="Calibri" pitchFamily="34" charset="-122"/>
                <a:cs typeface="Calibri" pitchFamily="34" charset="-120"/>
              </a:rPr>
              <a:t>12 / 13</a:t>
            </a:r>
            <a:endParaRPr lang="en-US" sz="900" dirty="0"/>
          </a:p>
        </p:txBody>
      </p:sp>
      <p:sp>
        <p:nvSpPr>
          <p:cNvPr id="3" name="Text 1"/>
          <p:cNvSpPr/>
          <p:nvPr/>
        </p:nvSpPr>
        <p:spPr>
          <a:xfrm>
            <a:off x="640080" y="6446520"/>
            <a:ext cx="6400800" cy="274320"/>
          </a:xfrm>
          <a:prstGeom prst="rect">
            <a:avLst/>
          </a:prstGeom>
          <a:noFill/>
          <a:ln/>
        </p:spPr>
        <p:txBody>
          <a:bodyPr wrap="square" lIns="0" tIns="0" rIns="0" bIns="0" rtlCol="0" anchor="ctr"/>
          <a:lstStyle/>
          <a:p>
            <a:pPr marL="0" indent="0">
              <a:buNone/>
            </a:pPr>
            <a:r>
              <a:rPr lang="en-US" sz="900" kern="0" spc="100" dirty="0">
                <a:solidFill>
                  <a:srgbClr val="8A92A0"/>
                </a:solidFill>
                <a:latin typeface="Calibri" pitchFamily="34" charset="0"/>
                <a:ea typeface="Calibri" pitchFamily="34" charset="-122"/>
                <a:cs typeface="Calibri" pitchFamily="34" charset="-120"/>
              </a:rPr>
              <a:t>PROJET PERSONNEL ENCADRÉ  •  CRMEF CASABLANCA-SETTAT</a:t>
            </a:r>
            <a:endParaRPr lang="en-US" sz="900" dirty="0"/>
          </a:p>
        </p:txBody>
      </p:sp>
      <p:sp>
        <p:nvSpPr>
          <p:cNvPr id="4" name="Text 2"/>
          <p:cNvSpPr/>
          <p:nvPr/>
        </p:nvSpPr>
        <p:spPr>
          <a:xfrm>
            <a:off x="640080" y="411480"/>
            <a:ext cx="7315200" cy="292608"/>
          </a:xfrm>
          <a:prstGeom prst="rect">
            <a:avLst/>
          </a:prstGeom>
          <a:noFill/>
          <a:ln/>
        </p:spPr>
        <p:txBody>
          <a:bodyPr wrap="square" lIns="0" tIns="0" rIns="0" bIns="0" rtlCol="0" anchor="ctr"/>
          <a:lstStyle/>
          <a:p>
            <a:pPr marL="0" indent="0">
              <a:buNone/>
            </a:pPr>
            <a:r>
              <a:rPr lang="en-US" sz="1150" b="1" kern="0" spc="220" dirty="0">
                <a:solidFill>
                  <a:srgbClr val="8FA3C9"/>
                </a:solidFill>
                <a:latin typeface="Calibri" pitchFamily="34" charset="0"/>
                <a:ea typeface="Calibri" pitchFamily="34" charset="-122"/>
                <a:cs typeface="Calibri" pitchFamily="34" charset="-120"/>
              </a:rPr>
              <a:t>CONCLUSION</a:t>
            </a:r>
            <a:endParaRPr lang="en-US" sz="1150" dirty="0"/>
          </a:p>
        </p:txBody>
      </p:sp>
      <p:sp>
        <p:nvSpPr>
          <p:cNvPr id="5" name="Text 3"/>
          <p:cNvSpPr/>
          <p:nvPr/>
        </p:nvSpPr>
        <p:spPr>
          <a:xfrm>
            <a:off x="640080" y="713232"/>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Synthèse de l'étude</a:t>
            </a:r>
            <a:endParaRPr lang="en-US" sz="3000" dirty="0"/>
          </a:p>
        </p:txBody>
      </p:sp>
      <p:sp>
        <p:nvSpPr>
          <p:cNvPr id="6" name="Shape 4"/>
          <p:cNvSpPr/>
          <p:nvPr/>
        </p:nvSpPr>
        <p:spPr>
          <a:xfrm>
            <a:off x="640080" y="1856232"/>
            <a:ext cx="109728" cy="109728"/>
          </a:xfrm>
          <a:prstGeom prst="ellipse">
            <a:avLst/>
          </a:prstGeom>
          <a:solidFill>
            <a:srgbClr val="8FA3C9"/>
          </a:solidFill>
          <a:ln/>
        </p:spPr>
      </p:sp>
      <p:sp>
        <p:nvSpPr>
          <p:cNvPr id="7" name="Text 5"/>
          <p:cNvSpPr/>
          <p:nvPr/>
        </p:nvSpPr>
        <p:spPr>
          <a:xfrm>
            <a:off x="960120" y="1691640"/>
            <a:ext cx="9966960" cy="548640"/>
          </a:xfrm>
          <a:prstGeom prst="rect">
            <a:avLst/>
          </a:prstGeom>
          <a:noFill/>
          <a:ln/>
        </p:spPr>
        <p:txBody>
          <a:bodyPr wrap="square" lIns="0" tIns="0" rIns="0" bIns="0" rtlCol="0" anchor="ctr"/>
          <a:lstStyle/>
          <a:p>
            <a:pPr marL="0" indent="0">
              <a:lnSpc>
                <a:spcPct val="130000"/>
              </a:lnSpc>
              <a:buNone/>
            </a:pPr>
            <a:r>
              <a:rPr lang="en-US" sz="1450" dirty="0">
                <a:solidFill>
                  <a:srgbClr val="E3E7EE"/>
                </a:solidFill>
                <a:latin typeface="Calibri" pitchFamily="34" charset="0"/>
                <a:ea typeface="Calibri" pitchFamily="34" charset="-122"/>
                <a:cs typeface="Calibri" pitchFamily="34" charset="-120"/>
              </a:rPr>
              <a:t>L'usage intensif des réseaux sociaux exerce un impact significatif sur la concentration et les performances scolaires.</a:t>
            </a:r>
            <a:endParaRPr lang="en-US" sz="1450" dirty="0"/>
          </a:p>
        </p:txBody>
      </p:sp>
      <p:sp>
        <p:nvSpPr>
          <p:cNvPr id="8" name="Shape 6"/>
          <p:cNvSpPr/>
          <p:nvPr/>
        </p:nvSpPr>
        <p:spPr>
          <a:xfrm>
            <a:off x="640080" y="2569464"/>
            <a:ext cx="109728" cy="109728"/>
          </a:xfrm>
          <a:prstGeom prst="ellipse">
            <a:avLst/>
          </a:prstGeom>
          <a:solidFill>
            <a:srgbClr val="8FA3C9"/>
          </a:solidFill>
          <a:ln/>
        </p:spPr>
      </p:sp>
      <p:sp>
        <p:nvSpPr>
          <p:cNvPr id="9" name="Text 7"/>
          <p:cNvSpPr/>
          <p:nvPr/>
        </p:nvSpPr>
        <p:spPr>
          <a:xfrm>
            <a:off x="960120" y="2404872"/>
            <a:ext cx="9966960" cy="548640"/>
          </a:xfrm>
          <a:prstGeom prst="rect">
            <a:avLst/>
          </a:prstGeom>
          <a:noFill/>
          <a:ln/>
        </p:spPr>
        <p:txBody>
          <a:bodyPr wrap="square" lIns="0" tIns="0" rIns="0" bIns="0" rtlCol="0" anchor="ctr"/>
          <a:lstStyle/>
          <a:p>
            <a:pPr marL="0" indent="0">
              <a:lnSpc>
                <a:spcPct val="130000"/>
              </a:lnSpc>
              <a:buNone/>
            </a:pPr>
            <a:r>
              <a:rPr lang="en-US" sz="1450" dirty="0">
                <a:solidFill>
                  <a:srgbClr val="E3E7EE"/>
                </a:solidFill>
                <a:latin typeface="Calibri" pitchFamily="34" charset="0"/>
                <a:ea typeface="Calibri" pitchFamily="34" charset="-122"/>
                <a:cs typeface="Calibri" pitchFamily="34" charset="-120"/>
              </a:rPr>
              <a:t>TikTok demeure la plateforme la plus distrayante en milieu scolaire marocain.</a:t>
            </a:r>
            <a:endParaRPr lang="en-US" sz="1450" dirty="0"/>
          </a:p>
        </p:txBody>
      </p:sp>
      <p:sp>
        <p:nvSpPr>
          <p:cNvPr id="10" name="Shape 8"/>
          <p:cNvSpPr/>
          <p:nvPr/>
        </p:nvSpPr>
        <p:spPr>
          <a:xfrm>
            <a:off x="640080" y="3282696"/>
            <a:ext cx="109728" cy="109728"/>
          </a:xfrm>
          <a:prstGeom prst="ellipse">
            <a:avLst/>
          </a:prstGeom>
          <a:solidFill>
            <a:srgbClr val="8FA3C9"/>
          </a:solidFill>
          <a:ln/>
        </p:spPr>
      </p:sp>
      <p:sp>
        <p:nvSpPr>
          <p:cNvPr id="11" name="Text 9"/>
          <p:cNvSpPr/>
          <p:nvPr/>
        </p:nvSpPr>
        <p:spPr>
          <a:xfrm>
            <a:off x="960120" y="3118104"/>
            <a:ext cx="9966960" cy="548640"/>
          </a:xfrm>
          <a:prstGeom prst="rect">
            <a:avLst/>
          </a:prstGeom>
          <a:noFill/>
          <a:ln/>
        </p:spPr>
        <p:txBody>
          <a:bodyPr wrap="square" lIns="0" tIns="0" rIns="0" bIns="0" rtlCol="0" anchor="ctr"/>
          <a:lstStyle/>
          <a:p>
            <a:pPr marL="0" indent="0">
              <a:lnSpc>
                <a:spcPct val="130000"/>
              </a:lnSpc>
              <a:buNone/>
            </a:pPr>
            <a:r>
              <a:rPr lang="en-US" sz="1450" dirty="0">
                <a:solidFill>
                  <a:srgbClr val="E3E7EE"/>
                </a:solidFill>
                <a:latin typeface="Calibri" pitchFamily="34" charset="0"/>
                <a:ea typeface="Calibri" pitchFamily="34" charset="-122"/>
                <a:cs typeface="Calibri" pitchFamily="34" charset="-120"/>
              </a:rPr>
              <a:t>Les approches pédagogiques interactives réduisent efficacement ces effets négatifs.</a:t>
            </a:r>
            <a:endParaRPr lang="en-US" sz="1450" dirty="0"/>
          </a:p>
        </p:txBody>
      </p:sp>
      <p:sp>
        <p:nvSpPr>
          <p:cNvPr id="12" name="Shape 10"/>
          <p:cNvSpPr/>
          <p:nvPr/>
        </p:nvSpPr>
        <p:spPr>
          <a:xfrm>
            <a:off x="640080" y="3995928"/>
            <a:ext cx="109728" cy="109728"/>
          </a:xfrm>
          <a:prstGeom prst="ellipse">
            <a:avLst/>
          </a:prstGeom>
          <a:solidFill>
            <a:srgbClr val="8FA3C9"/>
          </a:solidFill>
          <a:ln/>
        </p:spPr>
      </p:sp>
      <p:sp>
        <p:nvSpPr>
          <p:cNvPr id="13" name="Text 11"/>
          <p:cNvSpPr/>
          <p:nvPr/>
        </p:nvSpPr>
        <p:spPr>
          <a:xfrm>
            <a:off x="960120" y="3831336"/>
            <a:ext cx="9966960" cy="548640"/>
          </a:xfrm>
          <a:prstGeom prst="rect">
            <a:avLst/>
          </a:prstGeom>
          <a:noFill/>
          <a:ln/>
        </p:spPr>
        <p:txBody>
          <a:bodyPr wrap="square" lIns="0" tIns="0" rIns="0" bIns="0" rtlCol="0" anchor="ctr"/>
          <a:lstStyle/>
          <a:p>
            <a:pPr marL="0" indent="0">
              <a:lnSpc>
                <a:spcPct val="130000"/>
              </a:lnSpc>
              <a:buNone/>
            </a:pPr>
            <a:r>
              <a:rPr lang="en-US" sz="1450" dirty="0">
                <a:solidFill>
                  <a:srgbClr val="E3E7EE"/>
                </a:solidFill>
                <a:latin typeface="Calibri" pitchFamily="34" charset="0"/>
                <a:ea typeface="Calibri" pitchFamily="34" charset="-122"/>
                <a:cs typeface="Calibri" pitchFamily="34" charset="-120"/>
              </a:rPr>
              <a:t>Une sensibilisation à l'usage responsable du numérique reste indispensable.</a:t>
            </a:r>
            <a:endParaRPr lang="en-US" sz="1450" dirty="0"/>
          </a:p>
        </p:txBody>
      </p:sp>
      <p:sp>
        <p:nvSpPr>
          <p:cNvPr id="14" name="Shape 12"/>
          <p:cNvSpPr/>
          <p:nvPr/>
        </p:nvSpPr>
        <p:spPr>
          <a:xfrm>
            <a:off x="640080" y="5074920"/>
            <a:ext cx="10927080" cy="0"/>
          </a:xfrm>
          <a:prstGeom prst="line">
            <a:avLst/>
          </a:prstGeom>
          <a:noFill/>
          <a:ln w="12700">
            <a:solidFill>
              <a:srgbClr val="33405E"/>
            </a:solidFill>
            <a:prstDash val="solid"/>
          </a:ln>
        </p:spPr>
      </p:sp>
      <p:sp>
        <p:nvSpPr>
          <p:cNvPr id="15" name="Text 13"/>
          <p:cNvSpPr/>
          <p:nvPr/>
        </p:nvSpPr>
        <p:spPr>
          <a:xfrm>
            <a:off x="640080" y="5303520"/>
            <a:ext cx="1092708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Mouad Mouasseif</a:t>
            </a:r>
            <a:r>
              <a:rPr lang="en-US" sz="1200" dirty="0">
                <a:solidFill>
                  <a:srgbClr val="8A92A0"/>
                </a:solidFill>
                <a:latin typeface="Calibri" pitchFamily="34" charset="0"/>
                <a:ea typeface="Calibri" pitchFamily="34" charset="-122"/>
                <a:cs typeface="Calibri" pitchFamily="34" charset="-120"/>
              </a:rPr>
              <a:t>   •   Encadré par Pr. Lahraichi   •   CRMEF Casablanca-Settat, 2025/2026</a:t>
            </a:r>
            <a:endParaRPr lang="en-US" sz="1200" dirty="0"/>
          </a:p>
        </p:txBody>
      </p:sp>
      <p:pic>
        <p:nvPicPr>
          <p:cNvPr id="16" name="Image 0" descr="icons/grad_white.png"/>
          <p:cNvPicPr>
            <a:picLocks noChangeAspect="1"/>
          </p:cNvPicPr>
          <p:nvPr/>
        </p:nvPicPr>
        <p:blipFill>
          <a:blip r:embed="rId3"/>
          <a:stretch>
            <a:fillRect/>
          </a:stretch>
        </p:blipFill>
        <p:spPr>
          <a:xfrm>
            <a:off x="10835640" y="5285232"/>
            <a:ext cx="411480" cy="4114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095848" y="1371600"/>
            <a:ext cx="0" cy="4114800"/>
          </a:xfrm>
          <a:prstGeom prst="line">
            <a:avLst/>
          </a:prstGeom>
          <a:noFill/>
          <a:ln w="12700">
            <a:solidFill>
              <a:srgbClr val="DCE0E6"/>
            </a:solidFill>
            <a:prstDash val="solid"/>
          </a:ln>
        </p:spPr>
      </p:sp>
      <p:sp>
        <p:nvSpPr>
          <p:cNvPr id="3" name="Text 1"/>
          <p:cNvSpPr/>
          <p:nvPr/>
        </p:nvSpPr>
        <p:spPr>
          <a:xfrm>
            <a:off x="640080" y="2606040"/>
            <a:ext cx="5120640" cy="914400"/>
          </a:xfrm>
          <a:prstGeom prst="rect">
            <a:avLst/>
          </a:prstGeom>
          <a:noFill/>
          <a:ln/>
        </p:spPr>
        <p:txBody>
          <a:bodyPr wrap="square" lIns="0" tIns="0" rIns="0" bIns="0" rtlCol="0" anchor="ctr"/>
          <a:lstStyle/>
          <a:p>
            <a:pPr marL="0" indent="0">
              <a:buNone/>
            </a:pPr>
            <a:r>
              <a:rPr lang="en-US" sz="3600" b="1" dirty="0">
                <a:solidFill>
                  <a:srgbClr val="16203A"/>
                </a:solidFill>
                <a:latin typeface="Cambria" pitchFamily="34" charset="0"/>
                <a:ea typeface="Cambria" pitchFamily="34" charset="-122"/>
                <a:cs typeface="Cambria" pitchFamily="34" charset="-120"/>
              </a:rPr>
              <a:t>Merci de votre attention</a:t>
            </a:r>
            <a:endParaRPr lang="en-US" sz="3600" dirty="0"/>
          </a:p>
        </p:txBody>
      </p:sp>
      <p:sp>
        <p:nvSpPr>
          <p:cNvPr id="4" name="Text 2"/>
          <p:cNvSpPr/>
          <p:nvPr/>
        </p:nvSpPr>
        <p:spPr>
          <a:xfrm>
            <a:off x="640080" y="3429000"/>
            <a:ext cx="5120640" cy="457200"/>
          </a:xfrm>
          <a:prstGeom prst="rect">
            <a:avLst/>
          </a:prstGeom>
          <a:noFill/>
          <a:ln/>
        </p:spPr>
        <p:txBody>
          <a:bodyPr wrap="square" lIns="0" tIns="0" rIns="0" bIns="0" rtlCol="0" anchor="ctr"/>
          <a:lstStyle/>
          <a:p>
            <a:pPr marL="0" indent="0">
              <a:buNone/>
            </a:pPr>
            <a:r>
              <a:rPr lang="en-US" sz="1400" i="1" dirty="0">
                <a:solidFill>
                  <a:srgbClr val="5B6470"/>
                </a:solidFill>
                <a:latin typeface="Calibri" pitchFamily="34" charset="0"/>
                <a:ea typeface="Calibri" pitchFamily="34" charset="-122"/>
                <a:cs typeface="Calibri" pitchFamily="34" charset="-120"/>
              </a:rPr>
              <a:t>Place aux questions et à la discussion</a:t>
            </a:r>
            <a:endParaRPr lang="en-US" sz="1400" dirty="0"/>
          </a:p>
        </p:txBody>
      </p:sp>
      <p:sp>
        <p:nvSpPr>
          <p:cNvPr id="5" name="Text 3"/>
          <p:cNvSpPr/>
          <p:nvPr/>
        </p:nvSpPr>
        <p:spPr>
          <a:xfrm>
            <a:off x="6766560" y="2834640"/>
            <a:ext cx="4754880" cy="1828800"/>
          </a:xfrm>
          <a:prstGeom prst="rect">
            <a:avLst/>
          </a:prstGeom>
          <a:noFill/>
          <a:ln/>
        </p:spPr>
        <p:txBody>
          <a:bodyPr wrap="square" lIns="0" tIns="0" rIns="0" bIns="0" rtlCol="0" anchor="ctr"/>
          <a:lstStyle/>
          <a:p>
            <a:pPr marL="0" indent="0">
              <a:lnSpc>
                <a:spcPct val="150000"/>
              </a:lnSpc>
              <a:buNone/>
            </a:pPr>
            <a:r>
              <a:rPr lang="en-US" sz="1400" b="1" dirty="0">
                <a:solidFill>
                  <a:srgbClr val="16203A"/>
                </a:solidFill>
                <a:latin typeface="Calibri" pitchFamily="34" charset="0"/>
                <a:ea typeface="Calibri" pitchFamily="34" charset="-122"/>
                <a:cs typeface="Calibri" pitchFamily="34" charset="-120"/>
              </a:rPr>
              <a:t>Mouad Mouasseif</a:t>
            </a:r>
            <a:endParaRPr lang="en-US" sz="1400" dirty="0"/>
          </a:p>
          <a:p>
            <a:pPr marL="0" indent="0">
              <a:lnSpc>
                <a:spcPct val="150000"/>
              </a:lnSpc>
              <a:buNone/>
            </a:pPr>
            <a:r>
              <a:rPr lang="en-US" sz="1150" dirty="0">
                <a:solidFill>
                  <a:srgbClr val="5B6470"/>
                </a:solidFill>
                <a:latin typeface="Calibri" pitchFamily="34" charset="0"/>
                <a:ea typeface="Calibri" pitchFamily="34" charset="-122"/>
                <a:cs typeface="Calibri" pitchFamily="34" charset="-120"/>
              </a:rPr>
              <a:t>Spécialité Informatique</a:t>
            </a:r>
            <a:endParaRPr lang="en-US" sz="1400" dirty="0"/>
          </a:p>
          <a:p>
            <a:pPr marL="0" indent="0">
              <a:lnSpc>
                <a:spcPct val="150000"/>
              </a:lnSpc>
              <a:buNone/>
            </a:pPr>
            <a:r>
              <a:rPr lang="en-US" sz="1150" dirty="0">
                <a:solidFill>
                  <a:srgbClr val="5B6470"/>
                </a:solidFill>
                <a:latin typeface="Calibri" pitchFamily="34" charset="0"/>
                <a:ea typeface="Calibri" pitchFamily="34" charset="-122"/>
                <a:cs typeface="Calibri" pitchFamily="34" charset="-120"/>
              </a:rPr>
              <a:t>Encadré par Pr. Lahraichi</a:t>
            </a:r>
            <a:endParaRPr lang="en-US" sz="1400" dirty="0"/>
          </a:p>
          <a:p>
            <a:pPr marL="0" indent="0">
              <a:lnSpc>
                <a:spcPct val="150000"/>
              </a:lnSpc>
              <a:buNone/>
            </a:pPr>
            <a:r>
              <a:rPr lang="en-US" sz="1150" dirty="0">
                <a:solidFill>
                  <a:srgbClr val="5B6470"/>
                </a:solidFill>
                <a:latin typeface="Calibri" pitchFamily="34" charset="0"/>
                <a:ea typeface="Calibri" pitchFamily="34" charset="-122"/>
                <a:cs typeface="Calibri" pitchFamily="34" charset="-120"/>
              </a:rPr>
              <a:t>CRMEF Casablanca-Settat — 2025/2026</a:t>
            </a:r>
            <a:endParaRPr lang="en-US" sz="1400" dirty="0"/>
          </a:p>
        </p:txBody>
      </p:sp>
      <p:pic>
        <p:nvPicPr>
          <p:cNvPr id="6" name="Image 0" descr="icons/grad_navy.png"/>
          <p:cNvPicPr>
            <a:picLocks noChangeAspect="1"/>
          </p:cNvPicPr>
          <p:nvPr/>
        </p:nvPicPr>
        <p:blipFill>
          <a:blip r:embed="rId3"/>
          <a:stretch>
            <a:fillRect/>
          </a:stretch>
        </p:blipFill>
        <p:spPr>
          <a:xfrm>
            <a:off x="640080" y="16916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956</Words>
  <Application>Microsoft Office PowerPoint</Application>
  <PresentationFormat>Grand écran</PresentationFormat>
  <Paragraphs>208</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L'impact des réseaux sociaux sur l'attention et les performances scolaires des élèves</dc:title>
  <dc:subject>PptxGenJS Presentation</dc:subject>
  <dc:creator>Mouad Mouasseif</dc:creator>
  <cp:lastModifiedBy>MOUASSEIF MOUAD</cp:lastModifiedBy>
  <cp:revision>2</cp:revision>
  <dcterms:created xsi:type="dcterms:W3CDTF">2026-06-24T07:39:52Z</dcterms:created>
  <dcterms:modified xsi:type="dcterms:W3CDTF">2026-06-24T08:37:44Z</dcterms:modified>
</cp:coreProperties>
</file>